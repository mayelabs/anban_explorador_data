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lang="es-CO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s-CO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CO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CO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CO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9B2EC1EE-20CE-4422-BCCF-92E5B80024D8}" type="slidenum">
              <a: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s-CO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ABB5714-03E2-480E-B9A9-4B9F9DCE913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B02BE72-705A-4459-AFDA-3778C5A9532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320CEE0-2166-416A-906E-779D57F76E5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D9B32BD-DDA1-4ECF-8617-E558F444938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836D048-3995-4DFD-B051-3CA602D7829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DDF02D8-4F0A-46FA-8C91-FAC8EE51C4E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FAC8129-05A2-49C6-B056-6FB820F63D8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85DBAB5-E5BB-459E-AB89-FCBE19E2644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es-CO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s-CO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CO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s-CO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CO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s-CO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CO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s-CO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CO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s-CO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CO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s-CO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CO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s-CO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CO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s-CO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d1b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164160" cy="514332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164520" y="0"/>
            <a:ext cx="54360" cy="5143320"/>
          </a:xfrm>
          <a:prstGeom prst="rect">
            <a:avLst/>
          </a:prstGeom>
          <a:solidFill>
            <a:srgbClr val="a26769"/>
          </a:solidFill>
          <a:ln w="12700">
            <a:solidFill>
              <a:srgbClr val="a2676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Shape 2"/>
          <p:cNvSpPr/>
          <p:nvPr/>
        </p:nvSpPr>
        <p:spPr>
          <a:xfrm>
            <a:off x="640080" y="502920"/>
            <a:ext cx="2599920" cy="347040"/>
          </a:xfrm>
          <a:prstGeom prst="roundRect">
            <a:avLst>
              <a:gd name="adj" fmla="val 26316"/>
            </a:avLst>
          </a:prstGeom>
          <a:solidFill>
            <a:srgbClr val="6d2e46">
              <a:alpha val="60000"/>
            </a:srgbClr>
          </a:solidFill>
          <a:ln w="12700">
            <a:solidFill>
              <a:srgbClr val="a2676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3"/>
          <p:cNvSpPr/>
          <p:nvPr/>
        </p:nvSpPr>
        <p:spPr>
          <a:xfrm>
            <a:off x="640080" y="502920"/>
            <a:ext cx="25599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50" b="1" u="none" spc="150" strike="noStrike">
                <a:solidFill>
                  <a:srgbClr val="faf7f5"/>
                </a:solidFill>
                <a:effectLst/>
                <a:uFillTx/>
                <a:latin typeface="Calibri"/>
              </a:rPr>
              <a:t> BOOTCAMP IA &amp; DATA SCIENCE · ANBAN 2026</a:t>
            </a:r>
            <a:endParaRPr lang="es-CO" sz="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4"/>
          <p:cNvSpPr/>
          <p:nvPr/>
        </p:nvSpPr>
        <p:spPr>
          <a:xfrm>
            <a:off x="640080" y="1097280"/>
            <a:ext cx="8229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52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Data Quality</a:t>
            </a:r>
            <a:endParaRPr lang="es-CO" sz="5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640080" y="1920240"/>
            <a:ext cx="82292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800" b="0" u="none" strike="noStrike">
                <a:solidFill>
                  <a:srgbClr val="a26769"/>
                </a:solidFill>
                <a:effectLst/>
                <a:uFillTx/>
                <a:latin typeface="Georgia"/>
                <a:ea typeface="Georgia"/>
              </a:rPr>
              <a:t>a Open Beauty Facts</a:t>
            </a:r>
            <a:endParaRPr lang="es-CO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6"/>
          <p:cNvSpPr/>
          <p:nvPr/>
        </p:nvSpPr>
        <p:spPr>
          <a:xfrm>
            <a:off x="640080" y="2788920"/>
            <a:ext cx="68576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i="1" u="none" strike="noStrike">
                <a:solidFill>
                  <a:srgbClr val="c9b8c4"/>
                </a:solidFill>
                <a:effectLst/>
                <a:uFillTx/>
                <a:latin typeface="Calibri"/>
                <a:ea typeface="Calibri"/>
              </a:rPr>
              <a:t>¿Cómo identificar qué productos tienen datos fiables</a:t>
            </a:r>
            <a:endParaRPr lang="es-CO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i="1" u="none" strike="noStrike">
                <a:solidFill>
                  <a:srgbClr val="c9b8c4"/>
                </a:solidFill>
                <a:effectLst/>
                <a:uFillTx/>
                <a:latin typeface="Calibri"/>
                <a:ea typeface="Calibri"/>
              </a:rPr>
              <a:t>para su uso en análisis o modelos futuros?</a:t>
            </a:r>
            <a:endParaRPr lang="es-CO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Shape 7"/>
          <p:cNvSpPr/>
          <p:nvPr/>
        </p:nvSpPr>
        <p:spPr>
          <a:xfrm>
            <a:off x="640080" y="3611880"/>
            <a:ext cx="4114800" cy="360"/>
          </a:xfrm>
          <a:prstGeom prst="line">
            <a:avLst/>
          </a:prstGeom>
          <a:ln w="19050">
            <a:solidFill>
              <a:srgbClr val="a2676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640080" y="3840480"/>
            <a:ext cx="8229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9b7a8a"/>
                </a:solidFill>
                <a:effectLst/>
                <a:uFillTx/>
                <a:latin typeface="Calibri"/>
                <a:ea typeface="Calibri"/>
              </a:rPr>
              <a:t>MayeLabs  ·  github.com/MayeLabs/anban_explorador_data</a:t>
            </a:r>
            <a:endParaRPr lang="es-CO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9"/>
          <p:cNvSpPr/>
          <p:nvPr/>
        </p:nvSpPr>
        <p:spPr>
          <a:xfrm>
            <a:off x="640080" y="4206240"/>
            <a:ext cx="8229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7a6070"/>
                </a:solidFill>
                <a:effectLst/>
                <a:uFillTx/>
                <a:latin typeface="Calibri"/>
                <a:ea typeface="Calibri"/>
              </a:rPr>
              <a:t>world.openbeautyfacts.org</a:t>
            </a:r>
            <a:endParaRPr lang="es-CO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0"/>
          <p:cNvSpPr/>
          <p:nvPr/>
        </p:nvSpPr>
        <p:spPr>
          <a:xfrm>
            <a:off x="0" y="0"/>
            <a:ext cx="109440" cy="514332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1"/>
          <p:cNvSpPr/>
          <p:nvPr/>
        </p:nvSpPr>
        <p:spPr>
          <a:xfrm>
            <a:off x="365760" y="274320"/>
            <a:ext cx="85035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400" b="1" u="none" strike="noStrike">
                <a:solidFill>
                  <a:srgbClr val="2d1b36"/>
                </a:solidFill>
                <a:effectLst/>
                <a:uFillTx/>
                <a:latin typeface="Georgia"/>
                <a:ea typeface="Georgia"/>
              </a:rPr>
              <a:t>El Problema</a:t>
            </a:r>
            <a:endParaRPr lang="es-CO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2"/>
          <p:cNvSpPr/>
          <p:nvPr/>
        </p:nvSpPr>
        <p:spPr>
          <a:xfrm>
            <a:off x="365760" y="1051560"/>
            <a:ext cx="84121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50" b="0" u="none" strike="noStrike">
                <a:solidFill>
                  <a:srgbClr val="1e1e1e"/>
                </a:solidFill>
                <a:effectLst/>
                <a:uFillTx/>
                <a:latin typeface="Calibri"/>
                <a:ea typeface="Calibri"/>
              </a:rPr>
              <a:t>Open Beauty Facts es una plataforma colaborativa donde cualquier persona puede registrar productos cosméticos. Esa apertura es su mayor valor, pero también su mayor riesgo:</a:t>
            </a:r>
            <a:endParaRPr lang="es-CO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Shape 3"/>
          <p:cNvSpPr/>
          <p:nvPr/>
        </p:nvSpPr>
        <p:spPr>
          <a:xfrm>
            <a:off x="365760" y="1920240"/>
            <a:ext cx="8412120" cy="685440"/>
          </a:xfrm>
          <a:prstGeom prst="rect">
            <a:avLst/>
          </a:prstGeom>
          <a:solidFill>
            <a:srgbClr val="6d2e46">
              <a:alpha val="12000"/>
            </a:srgbClr>
          </a:solidFill>
          <a:ln w="19050">
            <a:solidFill>
              <a:srgbClr val="6d2e4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4"/>
          <p:cNvSpPr/>
          <p:nvPr/>
        </p:nvSpPr>
        <p:spPr>
          <a:xfrm>
            <a:off x="365760" y="1920240"/>
            <a:ext cx="54360" cy="68544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5"/>
          <p:cNvSpPr/>
          <p:nvPr/>
        </p:nvSpPr>
        <p:spPr>
          <a:xfrm>
            <a:off x="548640" y="1920240"/>
            <a:ext cx="82292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1" i="1" u="none" strike="noStrike">
                <a:solidFill>
                  <a:srgbClr val="6d2e46"/>
                </a:solidFill>
                <a:effectLst/>
                <a:uFillTx/>
                <a:latin typeface="Georgia"/>
                <a:ea typeface="Georgia"/>
              </a:rPr>
              <a:t>Nadie verifica que los datos subidos sean fiables.</a:t>
            </a:r>
            <a:endParaRPr lang="es-CO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6"/>
          <p:cNvSpPr/>
          <p:nvPr/>
        </p:nvSpPr>
        <p:spPr>
          <a:xfrm>
            <a:off x="365760" y="2788920"/>
            <a:ext cx="2605680" cy="1325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e5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7"/>
          <p:cNvSpPr/>
          <p:nvPr/>
        </p:nvSpPr>
        <p:spPr>
          <a:xfrm>
            <a:off x="365760" y="2788920"/>
            <a:ext cx="2605680" cy="4536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8"/>
          <p:cNvSpPr/>
          <p:nvPr/>
        </p:nvSpPr>
        <p:spPr>
          <a:xfrm>
            <a:off x="365760" y="2898720"/>
            <a:ext cx="26056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📋</a:t>
            </a:r>
            <a:endParaRPr lang="es-CO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9"/>
          <p:cNvSpPr/>
          <p:nvPr/>
        </p:nvSpPr>
        <p:spPr>
          <a:xfrm>
            <a:off x="365760" y="3291840"/>
            <a:ext cx="26056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2d1b36"/>
                </a:solidFill>
                <a:effectLst/>
                <a:uFillTx/>
                <a:latin typeface="Calibri"/>
                <a:ea typeface="Calibri"/>
              </a:rPr>
              <a:t>Incompletos</a:t>
            </a:r>
            <a:endParaRPr lang="es-CO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10"/>
          <p:cNvSpPr/>
          <p:nvPr/>
        </p:nvSpPr>
        <p:spPr>
          <a:xfrm>
            <a:off x="365760" y="3566160"/>
            <a:ext cx="2605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Campos clave vacíos:</a:t>
            </a:r>
            <a:endParaRPr lang="es-CO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sin categoría, sin país</a:t>
            </a:r>
            <a:endParaRPr lang="es-CO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Shape 11"/>
          <p:cNvSpPr/>
          <p:nvPr/>
        </p:nvSpPr>
        <p:spPr>
          <a:xfrm>
            <a:off x="3127320" y="2788920"/>
            <a:ext cx="2605680" cy="1325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e5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12"/>
          <p:cNvSpPr/>
          <p:nvPr/>
        </p:nvSpPr>
        <p:spPr>
          <a:xfrm>
            <a:off x="3127320" y="2788920"/>
            <a:ext cx="2605680" cy="4536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13"/>
          <p:cNvSpPr/>
          <p:nvPr/>
        </p:nvSpPr>
        <p:spPr>
          <a:xfrm>
            <a:off x="3127320" y="2898720"/>
            <a:ext cx="26056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🔁</a:t>
            </a:r>
            <a:endParaRPr lang="es-CO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14"/>
          <p:cNvSpPr/>
          <p:nvPr/>
        </p:nvSpPr>
        <p:spPr>
          <a:xfrm>
            <a:off x="3127320" y="3291840"/>
            <a:ext cx="26056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2d1b36"/>
                </a:solidFill>
                <a:effectLst/>
                <a:uFillTx/>
                <a:latin typeface="Calibri"/>
                <a:ea typeface="Calibri"/>
              </a:rPr>
              <a:t>Duplicados</a:t>
            </a:r>
            <a:endParaRPr lang="es-CO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15"/>
          <p:cNvSpPr/>
          <p:nvPr/>
        </p:nvSpPr>
        <p:spPr>
          <a:xfrm>
            <a:off x="3127320" y="3566160"/>
            <a:ext cx="2605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Mismo producto</a:t>
            </a:r>
            <a:endParaRPr lang="es-CO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registrado varias veces</a:t>
            </a:r>
            <a:endParaRPr lang="es-CO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16"/>
          <p:cNvSpPr/>
          <p:nvPr/>
        </p:nvSpPr>
        <p:spPr>
          <a:xfrm>
            <a:off x="5888880" y="2788920"/>
            <a:ext cx="2605680" cy="1325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e5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Shape 17"/>
          <p:cNvSpPr/>
          <p:nvPr/>
        </p:nvSpPr>
        <p:spPr>
          <a:xfrm>
            <a:off x="5888880" y="2788920"/>
            <a:ext cx="2605680" cy="4536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18"/>
          <p:cNvSpPr/>
          <p:nvPr/>
        </p:nvSpPr>
        <p:spPr>
          <a:xfrm>
            <a:off x="5888880" y="2898720"/>
            <a:ext cx="26056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🌐</a:t>
            </a:r>
            <a:endParaRPr lang="es-CO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19"/>
          <p:cNvSpPr/>
          <p:nvPr/>
        </p:nvSpPr>
        <p:spPr>
          <a:xfrm>
            <a:off x="5888880" y="3291840"/>
            <a:ext cx="26056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2d1b36"/>
                </a:solidFill>
                <a:effectLst/>
                <a:uFillTx/>
                <a:latin typeface="Calibri"/>
                <a:ea typeface="Calibri"/>
              </a:rPr>
              <a:t>Inconsistentes</a:t>
            </a:r>
            <a:endParaRPr lang="es-CO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20"/>
          <p:cNvSpPr/>
          <p:nvPr/>
        </p:nvSpPr>
        <p:spPr>
          <a:xfrm>
            <a:off x="5888880" y="3566160"/>
            <a:ext cx="2605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Categorías y países</a:t>
            </a:r>
            <a:endParaRPr lang="es-CO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en idiomas mezclados</a:t>
            </a:r>
            <a:endParaRPr lang="es-CO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Shape 0"/>
          <p:cNvSpPr/>
          <p:nvPr/>
        </p:nvSpPr>
        <p:spPr>
          <a:xfrm>
            <a:off x="0" y="0"/>
            <a:ext cx="109440" cy="51433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1"/>
          <p:cNvSpPr/>
          <p:nvPr/>
        </p:nvSpPr>
        <p:spPr>
          <a:xfrm>
            <a:off x="365760" y="274320"/>
            <a:ext cx="850356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000" b="1" u="none" strike="noStrike">
                <a:solidFill>
                  <a:srgbClr val="2d1b36"/>
                </a:solidFill>
                <a:effectLst/>
                <a:uFillTx/>
                <a:latin typeface="Georgia"/>
                <a:ea typeface="Georgia"/>
              </a:rPr>
              <a:t>La Solución — Pipeline de 4 Fases</a:t>
            </a:r>
            <a:endParaRPr lang="es-CO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2"/>
          <p:cNvSpPr/>
          <p:nvPr/>
        </p:nvSpPr>
        <p:spPr>
          <a:xfrm>
            <a:off x="365760" y="868680"/>
            <a:ext cx="85035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0" i="1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Pipeline automatizado en Python · datos crudos → catálogo evaluado, segmentado y clasificable</a:t>
            </a:r>
            <a:endParaRPr lang="es-CO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Shape 3"/>
          <p:cNvSpPr/>
          <p:nvPr/>
        </p:nvSpPr>
        <p:spPr>
          <a:xfrm>
            <a:off x="365760" y="1371600"/>
            <a:ext cx="2011320" cy="2331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8df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Shape 4"/>
          <p:cNvSpPr/>
          <p:nvPr/>
        </p:nvSpPr>
        <p:spPr>
          <a:xfrm>
            <a:off x="365760" y="1371600"/>
            <a:ext cx="2011320" cy="50256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5"/>
          <p:cNvSpPr/>
          <p:nvPr/>
        </p:nvSpPr>
        <p:spPr>
          <a:xfrm>
            <a:off x="365760" y="1371600"/>
            <a:ext cx="20113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I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6"/>
          <p:cNvSpPr/>
          <p:nvPr/>
        </p:nvSpPr>
        <p:spPr>
          <a:xfrm>
            <a:off x="365760" y="1901880"/>
            <a:ext cx="20113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6b6b6b"/>
                </a:solidFill>
                <a:effectLst/>
                <a:uFillTx/>
                <a:latin typeface="Consolas"/>
                <a:ea typeface="Consolas"/>
              </a:rPr>
              <a:t>01_i ngestion_ETL.i pynb</a:t>
            </a:r>
            <a:endParaRPr lang="es-CO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7"/>
          <p:cNvSpPr/>
          <p:nvPr/>
        </p:nvSpPr>
        <p:spPr>
          <a:xfrm>
            <a:off x="365760" y="2212920"/>
            <a:ext cx="20113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d1b36"/>
                </a:solidFill>
                <a:effectLst/>
                <a:uFillTx/>
                <a:latin typeface="Calibri"/>
                <a:ea typeface="Calibri"/>
              </a:rPr>
              <a:t>Ingesta + ETL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8"/>
          <p:cNvSpPr/>
          <p:nvPr/>
        </p:nvSpPr>
        <p:spPr>
          <a:xfrm>
            <a:off x="457200" y="2688480"/>
            <a:ext cx="18284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Descarga 50.000 productos</a:t>
            </a:r>
            <a:endParaRPr lang="es-C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vía API en 10 lotes → SQLite</a:t>
            </a:r>
            <a:endParaRPr lang="es-C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9"/>
          <p:cNvSpPr/>
          <p:nvPr/>
        </p:nvSpPr>
        <p:spPr>
          <a:xfrm>
            <a:off x="2496240" y="1371600"/>
            <a:ext cx="2011320" cy="2331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8df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Shape 10"/>
          <p:cNvSpPr/>
          <p:nvPr/>
        </p:nvSpPr>
        <p:spPr>
          <a:xfrm>
            <a:off x="2496240" y="1371600"/>
            <a:ext cx="2011320" cy="502560"/>
          </a:xfrm>
          <a:prstGeom prst="rect">
            <a:avLst/>
          </a:prstGeom>
          <a:solidFill>
            <a:srgbClr val="a26769"/>
          </a:solidFill>
          <a:ln w="12700">
            <a:solidFill>
              <a:srgbClr val="a2676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11"/>
          <p:cNvSpPr/>
          <p:nvPr/>
        </p:nvSpPr>
        <p:spPr>
          <a:xfrm>
            <a:off x="2496240" y="1371600"/>
            <a:ext cx="20113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II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12"/>
          <p:cNvSpPr/>
          <p:nvPr/>
        </p:nvSpPr>
        <p:spPr>
          <a:xfrm>
            <a:off x="2496240" y="1901880"/>
            <a:ext cx="20113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6b6b6b"/>
                </a:solidFill>
                <a:effectLst/>
                <a:uFillTx/>
                <a:latin typeface="Consolas"/>
                <a:ea typeface="Consolas"/>
              </a:rPr>
              <a:t>02_data_qa_l ayer.i pynb</a:t>
            </a:r>
            <a:endParaRPr lang="es-CO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13"/>
          <p:cNvSpPr/>
          <p:nvPr/>
        </p:nvSpPr>
        <p:spPr>
          <a:xfrm>
            <a:off x="2496240" y="2212920"/>
            <a:ext cx="20113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d1b36"/>
                </a:solidFill>
                <a:effectLst/>
                <a:uFillTx/>
                <a:latin typeface="Calibri"/>
                <a:ea typeface="Calibri"/>
              </a:rPr>
              <a:t>Data Quality Layer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14"/>
          <p:cNvSpPr/>
          <p:nvPr/>
        </p:nvSpPr>
        <p:spPr>
          <a:xfrm>
            <a:off x="2587680" y="2688480"/>
            <a:ext cx="18284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20 métricas por producto</a:t>
            </a:r>
            <a:endParaRPr lang="es-C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product_quality_score 0.0–1.0</a:t>
            </a:r>
            <a:endParaRPr lang="es-C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Shape 15"/>
          <p:cNvSpPr/>
          <p:nvPr/>
        </p:nvSpPr>
        <p:spPr>
          <a:xfrm>
            <a:off x="4626720" y="1371600"/>
            <a:ext cx="2011320" cy="2331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8df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Shape 16"/>
          <p:cNvSpPr/>
          <p:nvPr/>
        </p:nvSpPr>
        <p:spPr>
          <a:xfrm>
            <a:off x="4626720" y="1371600"/>
            <a:ext cx="2011320" cy="5025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17"/>
          <p:cNvSpPr/>
          <p:nvPr/>
        </p:nvSpPr>
        <p:spPr>
          <a:xfrm>
            <a:off x="4626720" y="1371600"/>
            <a:ext cx="20113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III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18"/>
          <p:cNvSpPr/>
          <p:nvPr/>
        </p:nvSpPr>
        <p:spPr>
          <a:xfrm>
            <a:off x="4626720" y="1901880"/>
            <a:ext cx="20113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6b6b6b"/>
                </a:solidFill>
                <a:effectLst/>
                <a:uFillTx/>
                <a:latin typeface="Consolas"/>
                <a:ea typeface="Consolas"/>
              </a:rPr>
              <a:t>03_eda.i pynb</a:t>
            </a:r>
            <a:endParaRPr lang="es-CO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19"/>
          <p:cNvSpPr/>
          <p:nvPr/>
        </p:nvSpPr>
        <p:spPr>
          <a:xfrm>
            <a:off x="4626720" y="2212920"/>
            <a:ext cx="20113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d1b36"/>
                </a:solidFill>
                <a:effectLst/>
                <a:uFillTx/>
                <a:latin typeface="Calibri"/>
                <a:ea typeface="Calibri"/>
              </a:rPr>
              <a:t>EDA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20"/>
          <p:cNvSpPr/>
          <p:nvPr/>
        </p:nvSpPr>
        <p:spPr>
          <a:xfrm>
            <a:off x="4718160" y="2688480"/>
            <a:ext cx="18284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Distribuciones, correlaciones</a:t>
            </a:r>
            <a:endParaRPr lang="es-C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y perfiles por marca</a:t>
            </a:r>
            <a:endParaRPr lang="es-C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Shape 21"/>
          <p:cNvSpPr/>
          <p:nvPr/>
        </p:nvSpPr>
        <p:spPr>
          <a:xfrm>
            <a:off x="6757560" y="1371600"/>
            <a:ext cx="2011320" cy="2331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8df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Shape 22"/>
          <p:cNvSpPr/>
          <p:nvPr/>
        </p:nvSpPr>
        <p:spPr>
          <a:xfrm>
            <a:off x="6757560" y="1371600"/>
            <a:ext cx="2011320" cy="50256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23"/>
          <p:cNvSpPr/>
          <p:nvPr/>
        </p:nvSpPr>
        <p:spPr>
          <a:xfrm>
            <a:off x="6757560" y="1371600"/>
            <a:ext cx="20113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IV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24"/>
          <p:cNvSpPr/>
          <p:nvPr/>
        </p:nvSpPr>
        <p:spPr>
          <a:xfrm>
            <a:off x="6757560" y="1901880"/>
            <a:ext cx="20113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6b6b6b"/>
                </a:solidFill>
                <a:effectLst/>
                <a:uFillTx/>
                <a:latin typeface="Consolas"/>
                <a:ea typeface="Consolas"/>
              </a:rPr>
              <a:t>04_cl uster_ml.i pynb</a:t>
            </a:r>
            <a:endParaRPr lang="es-CO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25"/>
          <p:cNvSpPr/>
          <p:nvPr/>
        </p:nvSpPr>
        <p:spPr>
          <a:xfrm>
            <a:off x="6757560" y="2212920"/>
            <a:ext cx="20113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d1b36"/>
                </a:solidFill>
                <a:effectLst/>
                <a:uFillTx/>
                <a:latin typeface="Calibri"/>
                <a:ea typeface="Calibri"/>
              </a:rPr>
              <a:t>Clustering + Clasificador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26"/>
          <p:cNvSpPr/>
          <p:nvPr/>
        </p:nvSpPr>
        <p:spPr>
          <a:xfrm>
            <a:off x="6849000" y="2688480"/>
            <a:ext cx="18284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KMeans k=5 · Random Forest</a:t>
            </a:r>
            <a:endParaRPr lang="es-C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para clasificar nuevos productos</a:t>
            </a:r>
            <a:endParaRPr lang="es-C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Shape 0"/>
          <p:cNvSpPr/>
          <p:nvPr/>
        </p:nvSpPr>
        <p:spPr>
          <a:xfrm>
            <a:off x="0" y="0"/>
            <a:ext cx="109440" cy="514332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1"/>
          <p:cNvSpPr/>
          <p:nvPr/>
        </p:nvSpPr>
        <p:spPr>
          <a:xfrm>
            <a:off x="365760" y="255960"/>
            <a:ext cx="850356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200" b="1" u="none" strike="noStrike">
                <a:solidFill>
                  <a:srgbClr val="2d1b36"/>
                </a:solidFill>
                <a:effectLst/>
                <a:uFillTx/>
                <a:latin typeface="Georgia"/>
                <a:ea typeface="Georgia"/>
              </a:rPr>
              <a:t>Product Quality Score</a:t>
            </a:r>
            <a:endParaRPr lang="es-CO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2"/>
          <p:cNvSpPr/>
          <p:nvPr/>
        </p:nvSpPr>
        <p:spPr>
          <a:xfrm>
            <a:off x="365760" y="822960"/>
            <a:ext cx="85035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0" i="1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Un número entre 0.0 y 1.0 por producto — construido en 3 dimensiones ponderadas</a:t>
            </a:r>
            <a:endParaRPr lang="es-CO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Shape 3"/>
          <p:cNvSpPr/>
          <p:nvPr/>
        </p:nvSpPr>
        <p:spPr>
          <a:xfrm>
            <a:off x="365760" y="1188720"/>
            <a:ext cx="2605680" cy="1416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8df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4"/>
          <p:cNvSpPr/>
          <p:nvPr/>
        </p:nvSpPr>
        <p:spPr>
          <a:xfrm>
            <a:off x="365760" y="1188720"/>
            <a:ext cx="2605680" cy="43848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5"/>
          <p:cNvSpPr/>
          <p:nvPr/>
        </p:nvSpPr>
        <p:spPr>
          <a:xfrm>
            <a:off x="365760" y="1188720"/>
            <a:ext cx="260568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50%</a:t>
            </a:r>
            <a:endParaRPr lang="es-CO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6"/>
          <p:cNvSpPr/>
          <p:nvPr/>
        </p:nvSpPr>
        <p:spPr>
          <a:xfrm>
            <a:off x="457200" y="1664280"/>
            <a:ext cx="24228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d1b36"/>
                </a:solidFill>
                <a:effectLst/>
                <a:uFillTx/>
                <a:latin typeface="Calibri"/>
                <a:ea typeface="Calibri"/>
              </a:rPr>
              <a:t>Completitud crítica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7"/>
          <p:cNvSpPr/>
          <p:nvPr/>
        </p:nvSpPr>
        <p:spPr>
          <a:xfrm>
            <a:off x="457200" y="2011680"/>
            <a:ext cx="2422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¿Están los 4 campos</a:t>
            </a:r>
            <a:endParaRPr lang="es-C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clave rellenos?</a:t>
            </a:r>
            <a:endParaRPr lang="es-C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8"/>
          <p:cNvSpPr/>
          <p:nvPr/>
        </p:nvSpPr>
        <p:spPr>
          <a:xfrm>
            <a:off x="3136320" y="1188720"/>
            <a:ext cx="2605680" cy="1416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8df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Shape 9"/>
          <p:cNvSpPr/>
          <p:nvPr/>
        </p:nvSpPr>
        <p:spPr>
          <a:xfrm>
            <a:off x="3136320" y="1188720"/>
            <a:ext cx="2605680" cy="438480"/>
          </a:xfrm>
          <a:prstGeom prst="rect">
            <a:avLst/>
          </a:prstGeom>
          <a:solidFill>
            <a:srgbClr val="a26769"/>
          </a:solidFill>
          <a:ln w="12700">
            <a:solidFill>
              <a:srgbClr val="a2676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10"/>
          <p:cNvSpPr/>
          <p:nvPr/>
        </p:nvSpPr>
        <p:spPr>
          <a:xfrm>
            <a:off x="3136320" y="1188720"/>
            <a:ext cx="260568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35%</a:t>
            </a:r>
            <a:endParaRPr lang="es-CO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11"/>
          <p:cNvSpPr/>
          <p:nvPr/>
        </p:nvSpPr>
        <p:spPr>
          <a:xfrm>
            <a:off x="3227760" y="1664280"/>
            <a:ext cx="24228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d1b36"/>
                </a:solidFill>
                <a:effectLst/>
                <a:uFillTx/>
                <a:latin typeface="Calibri"/>
                <a:ea typeface="Calibri"/>
              </a:rPr>
              <a:t>Calidad ingredientes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12"/>
          <p:cNvSpPr/>
          <p:nvPr/>
        </p:nvSpPr>
        <p:spPr>
          <a:xfrm>
            <a:off x="3227760" y="2011680"/>
            <a:ext cx="2422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Proporción de ingredientes</a:t>
            </a:r>
            <a:endParaRPr lang="es-C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reconocidos</a:t>
            </a:r>
            <a:endParaRPr lang="es-C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13"/>
          <p:cNvSpPr/>
          <p:nvPr/>
        </p:nvSpPr>
        <p:spPr>
          <a:xfrm>
            <a:off x="5906880" y="1188720"/>
            <a:ext cx="2605680" cy="1416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8df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Shape 14"/>
          <p:cNvSpPr/>
          <p:nvPr/>
        </p:nvSpPr>
        <p:spPr>
          <a:xfrm>
            <a:off x="5906880" y="1188720"/>
            <a:ext cx="2605680" cy="4384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15"/>
          <p:cNvSpPr/>
          <p:nvPr/>
        </p:nvSpPr>
        <p:spPr>
          <a:xfrm>
            <a:off x="5906880" y="1188720"/>
            <a:ext cx="260568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15%</a:t>
            </a:r>
            <a:endParaRPr lang="es-CO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16"/>
          <p:cNvSpPr/>
          <p:nvPr/>
        </p:nvSpPr>
        <p:spPr>
          <a:xfrm>
            <a:off x="5998320" y="1664280"/>
            <a:ext cx="24228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d1b36"/>
                </a:solidFill>
                <a:effectLst/>
                <a:uFillTx/>
                <a:latin typeface="Calibri"/>
                <a:ea typeface="Calibri"/>
              </a:rPr>
              <a:t>General + Taxonomía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17"/>
          <p:cNvSpPr/>
          <p:nvPr/>
        </p:nvSpPr>
        <p:spPr>
          <a:xfrm>
            <a:off x="5998320" y="2011680"/>
            <a:ext cx="2422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Completitud general +</a:t>
            </a:r>
            <a:endParaRPr lang="es-C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consistencia idioma</a:t>
            </a:r>
            <a:endParaRPr lang="es-C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18"/>
          <p:cNvSpPr/>
          <p:nvPr/>
        </p:nvSpPr>
        <p:spPr>
          <a:xfrm>
            <a:off x="365760" y="2606040"/>
            <a:ext cx="8412120" cy="1005480"/>
          </a:xfrm>
          <a:prstGeom prst="rect">
            <a:avLst/>
          </a:prstGeom>
          <a:solidFill>
            <a:srgbClr val="2d1b36"/>
          </a:solidFill>
          <a:ln w="12700">
            <a:solidFill>
              <a:srgbClr val="2d1b3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19"/>
          <p:cNvSpPr/>
          <p:nvPr/>
        </p:nvSpPr>
        <p:spPr>
          <a:xfrm>
            <a:off x="548640" y="2651760"/>
            <a:ext cx="10969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a26769"/>
                </a:solidFill>
                <a:effectLst/>
                <a:uFillTx/>
                <a:latin typeface="Calibri"/>
                <a:ea typeface="Calibri"/>
              </a:rPr>
              <a:t>Fórmula:</a:t>
            </a:r>
            <a:endParaRPr lang="es-C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20"/>
          <p:cNvSpPr/>
          <p:nvPr/>
        </p:nvSpPr>
        <p:spPr>
          <a:xfrm>
            <a:off x="548640" y="2999160"/>
            <a:ext cx="80463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compl_cri tical_ratio × 0.50  +  i ngr edi ents_qual it y_scor e × 0.35  +  (coplet eness + taxonomy) × 0.15</a:t>
            </a:r>
            <a:endParaRPr lang="es-C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21"/>
          <p:cNvSpPr/>
          <p:nvPr/>
        </p:nvSpPr>
        <p:spPr>
          <a:xfrm>
            <a:off x="1737360" y="2651760"/>
            <a:ext cx="68576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9b7a8a"/>
                </a:solidFill>
                <a:effectLst/>
                <a:uFillTx/>
                <a:latin typeface="Consolas"/>
                <a:ea typeface="Consolas"/>
              </a:rPr>
              <a:t>Si  dupl icado → score = 0.0   ·   Si n I ngr edi entes → scor e = -1</a:t>
            </a:r>
            <a:endParaRPr lang="es-C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Shape 22"/>
          <p:cNvSpPr/>
          <p:nvPr/>
        </p:nvSpPr>
        <p:spPr>
          <a:xfrm>
            <a:off x="365760" y="3749040"/>
            <a:ext cx="8412120" cy="548280"/>
          </a:xfrm>
          <a:prstGeom prst="rect">
            <a:avLst/>
          </a:prstGeom>
          <a:solidFill>
            <a:srgbClr val="fff3f5"/>
          </a:solidFill>
          <a:ln w="12700">
            <a:solidFill>
              <a:srgbClr val="e8dd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23"/>
          <p:cNvSpPr/>
          <p:nvPr/>
        </p:nvSpPr>
        <p:spPr>
          <a:xfrm>
            <a:off x="457200" y="374904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6d2e46"/>
                </a:solidFill>
                <a:effectLst/>
                <a:uFillTx/>
                <a:latin typeface="Calibri"/>
                <a:ea typeface="Calibri"/>
              </a:rPr>
              <a:t>⚠️  Un duplicado o la ausencia total de ingredientes invalida el score independientemente del resto de dimensiones</a:t>
            </a:r>
            <a:endParaRPr lang="es-CO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Shape 19"/>
          <p:cNvSpPr/>
          <p:nvPr/>
        </p:nvSpPr>
        <p:spPr>
          <a:xfrm>
            <a:off x="0" y="0"/>
            <a:ext cx="109440" cy="51433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22"/>
          <p:cNvSpPr/>
          <p:nvPr/>
        </p:nvSpPr>
        <p:spPr>
          <a:xfrm>
            <a:off x="365760" y="182880"/>
            <a:ext cx="85035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400" b="1" u="none" strike="noStrike">
                <a:solidFill>
                  <a:srgbClr val="2d1b36"/>
                </a:solidFill>
                <a:effectLst/>
                <a:uFillTx/>
                <a:latin typeface="Georgia"/>
                <a:ea typeface="Georgia"/>
              </a:rPr>
              <a:t>¿Por qué k=5?</a:t>
            </a:r>
            <a:endParaRPr lang="es-CO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39"/>
          <p:cNvSpPr/>
          <p:nvPr/>
        </p:nvSpPr>
        <p:spPr>
          <a:xfrm>
            <a:off x="365760" y="713160"/>
            <a:ext cx="85035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i="1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Se evaluaron k=2 a k=10 con tres métricas de validación interna</a:t>
            </a:r>
            <a:endParaRPr lang="es-C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5" name="Image 3" descr="/home/claude/determinacion_cluster.jpg"/>
          <p:cNvPicPr/>
          <p:nvPr/>
        </p:nvPicPr>
        <p:blipFill>
          <a:blip r:embed="rId1"/>
          <a:stretch/>
        </p:blipFill>
        <p:spPr>
          <a:xfrm>
            <a:off x="365760" y="1078920"/>
            <a:ext cx="8412120" cy="2175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6" name="Shape 20"/>
          <p:cNvSpPr/>
          <p:nvPr/>
        </p:nvSpPr>
        <p:spPr>
          <a:xfrm>
            <a:off x="365760" y="3401640"/>
            <a:ext cx="2651400" cy="1416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8df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Shape 34"/>
          <p:cNvSpPr/>
          <p:nvPr/>
        </p:nvSpPr>
        <p:spPr>
          <a:xfrm>
            <a:off x="365760" y="3401640"/>
            <a:ext cx="2651400" cy="543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40"/>
          <p:cNvSpPr/>
          <p:nvPr/>
        </p:nvSpPr>
        <p:spPr>
          <a:xfrm>
            <a:off x="475560" y="3511440"/>
            <a:ext cx="243180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65a82"/>
                </a:solidFill>
                <a:effectLst/>
                <a:uFillTx/>
                <a:latin typeface="Calibri"/>
                <a:ea typeface="Calibri"/>
              </a:rPr>
              <a:t>Elbow (Inercia)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41"/>
          <p:cNvSpPr/>
          <p:nvPr/>
        </p:nvSpPr>
        <p:spPr>
          <a:xfrm>
            <a:off x="475560" y="3840480"/>
            <a:ext cx="243180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La curva se aplana a partir de k=5 — más clusters no aportan ganancia significativa</a:t>
            </a:r>
            <a:endParaRPr lang="es-C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Shape 35"/>
          <p:cNvSpPr/>
          <p:nvPr/>
        </p:nvSpPr>
        <p:spPr>
          <a:xfrm>
            <a:off x="3154680" y="3401640"/>
            <a:ext cx="2651400" cy="1416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8df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36"/>
          <p:cNvSpPr/>
          <p:nvPr/>
        </p:nvSpPr>
        <p:spPr>
          <a:xfrm>
            <a:off x="3154680" y="3401640"/>
            <a:ext cx="2651400" cy="54360"/>
          </a:xfrm>
          <a:prstGeom prst="rect">
            <a:avLst/>
          </a:prstGeom>
          <a:solidFill>
            <a:srgbClr val="a26769"/>
          </a:solidFill>
          <a:ln w="12700">
            <a:solidFill>
              <a:srgbClr val="a2676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42"/>
          <p:cNvSpPr/>
          <p:nvPr/>
        </p:nvSpPr>
        <p:spPr>
          <a:xfrm>
            <a:off x="3264480" y="3511440"/>
            <a:ext cx="243180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a26769"/>
                </a:solidFill>
                <a:effectLst/>
                <a:uFillTx/>
                <a:latin typeface="Calibri"/>
                <a:ea typeface="Calibri"/>
              </a:rPr>
              <a:t>Silhouette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43"/>
          <p:cNvSpPr/>
          <p:nvPr/>
        </p:nvSpPr>
        <p:spPr>
          <a:xfrm>
            <a:off x="3264480" y="3840480"/>
            <a:ext cx="243180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Máximo en k=2, pero k=5 mantiene un valor razonable con mayor interpretabilidad</a:t>
            </a:r>
            <a:endParaRPr lang="es-C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Shape 37"/>
          <p:cNvSpPr/>
          <p:nvPr/>
        </p:nvSpPr>
        <p:spPr>
          <a:xfrm>
            <a:off x="5943600" y="3401640"/>
            <a:ext cx="2651400" cy="1416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8df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Shape 38"/>
          <p:cNvSpPr/>
          <p:nvPr/>
        </p:nvSpPr>
        <p:spPr>
          <a:xfrm>
            <a:off x="5943600" y="3401640"/>
            <a:ext cx="2651400" cy="5436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44"/>
          <p:cNvSpPr/>
          <p:nvPr/>
        </p:nvSpPr>
        <p:spPr>
          <a:xfrm>
            <a:off x="6053400" y="3511440"/>
            <a:ext cx="243180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c5f2d"/>
                </a:solidFill>
                <a:effectLst/>
                <a:uFillTx/>
                <a:latin typeface="Calibri"/>
                <a:ea typeface="Calibri"/>
              </a:rPr>
              <a:t>Davies-Bouldin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45"/>
          <p:cNvSpPr/>
          <p:nvPr/>
        </p:nvSpPr>
        <p:spPr>
          <a:xfrm>
            <a:off x="6053400" y="3840480"/>
            <a:ext cx="243180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Mínimo en k=5 — los clusters están bien separados y son compactos</a:t>
            </a:r>
            <a:endParaRPr lang="es-C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Shape 23"/>
          <p:cNvSpPr/>
          <p:nvPr/>
        </p:nvSpPr>
        <p:spPr>
          <a:xfrm>
            <a:off x="0" y="0"/>
            <a:ext cx="109440" cy="514332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27"/>
          <p:cNvSpPr/>
          <p:nvPr/>
        </p:nvSpPr>
        <p:spPr>
          <a:xfrm>
            <a:off x="365760" y="182880"/>
            <a:ext cx="85035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800" b="1" u="none" strike="noStrike">
                <a:solidFill>
                  <a:srgbClr val="2d1b36"/>
                </a:solidFill>
                <a:effectLst/>
                <a:uFillTx/>
                <a:latin typeface="Georgia"/>
                <a:ea typeface="Georgia"/>
              </a:rPr>
              <a:t>Resultados — 5 Segmentos de Calidad</a:t>
            </a:r>
            <a:endParaRPr lang="es-CO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28"/>
          <p:cNvSpPr/>
          <p:nvPr/>
        </p:nvSpPr>
        <p:spPr>
          <a:xfrm>
            <a:off x="365760" y="713160"/>
            <a:ext cx="85035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i="1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KMeans k=5 · PCA — 54.7% varianza explicada</a:t>
            </a:r>
            <a:endParaRPr lang="es-C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24"/>
          <p:cNvSpPr/>
          <p:nvPr/>
        </p:nvSpPr>
        <p:spPr>
          <a:xfrm>
            <a:off x="365760" y="1051560"/>
            <a:ext cx="2874240" cy="712800"/>
          </a:xfrm>
          <a:prstGeom prst="rect">
            <a:avLst/>
          </a:prstGeom>
          <a:solidFill>
            <a:srgbClr val="eaf4ea"/>
          </a:solidFill>
          <a:ln w="12700">
            <a:solidFill>
              <a:srgbClr val="2c5f2d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Shape 25"/>
          <p:cNvSpPr/>
          <p:nvPr/>
        </p:nvSpPr>
        <p:spPr>
          <a:xfrm>
            <a:off x="365760" y="1051560"/>
            <a:ext cx="63720" cy="71280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29"/>
          <p:cNvSpPr/>
          <p:nvPr/>
        </p:nvSpPr>
        <p:spPr>
          <a:xfrm>
            <a:off x="548640" y="1097280"/>
            <a:ext cx="374868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1" u="none" strike="noStrike">
                <a:solidFill>
                  <a:srgbClr val="2c5f2d"/>
                </a:solidFill>
                <a:effectLst/>
                <a:uFillTx/>
                <a:latin typeface="Calibri"/>
                <a:ea typeface="Calibri"/>
              </a:rPr>
              <a:t>🟢  Bien documentados</a:t>
            </a:r>
            <a:endParaRPr lang="es-CO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30"/>
          <p:cNvSpPr/>
          <p:nvPr/>
        </p:nvSpPr>
        <p:spPr>
          <a:xfrm>
            <a:off x="548640" y="1417320"/>
            <a:ext cx="37486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Score alto · datos completos</a:t>
            </a:r>
            <a:endParaRPr lang="es-CO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26"/>
          <p:cNvSpPr/>
          <p:nvPr/>
        </p:nvSpPr>
        <p:spPr>
          <a:xfrm>
            <a:off x="365760" y="1856160"/>
            <a:ext cx="2874240" cy="712800"/>
          </a:xfrm>
          <a:prstGeom prst="rect">
            <a:avLst/>
          </a:prstGeom>
          <a:solidFill>
            <a:srgbClr val="faecea"/>
          </a:solidFill>
          <a:ln w="12700">
            <a:solidFill>
              <a:srgbClr val="b85042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Shape 27"/>
          <p:cNvSpPr/>
          <p:nvPr/>
        </p:nvSpPr>
        <p:spPr>
          <a:xfrm>
            <a:off x="365760" y="1856160"/>
            <a:ext cx="63720" cy="71280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31"/>
          <p:cNvSpPr/>
          <p:nvPr/>
        </p:nvSpPr>
        <p:spPr>
          <a:xfrm>
            <a:off x="548640" y="1901880"/>
            <a:ext cx="374868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1" u="none" strike="noStrike">
                <a:solidFill>
                  <a:srgbClr val="b85042"/>
                </a:solidFill>
                <a:effectLst/>
                <a:uFillTx/>
                <a:latin typeface="Calibri"/>
                <a:ea typeface="Calibri"/>
              </a:rPr>
              <a:t>🔴  Incompletos</a:t>
            </a:r>
            <a:endParaRPr lang="es-CO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32"/>
          <p:cNvSpPr/>
          <p:nvPr/>
        </p:nvSpPr>
        <p:spPr>
          <a:xfrm>
            <a:off x="548640" y="2221920"/>
            <a:ext cx="37486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Sin categoría · sin país</a:t>
            </a:r>
            <a:endParaRPr lang="es-CO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28"/>
          <p:cNvSpPr/>
          <p:nvPr/>
        </p:nvSpPr>
        <p:spPr>
          <a:xfrm>
            <a:off x="365760" y="2660760"/>
            <a:ext cx="2874240" cy="712800"/>
          </a:xfrm>
          <a:prstGeom prst="rect">
            <a:avLst/>
          </a:prstGeom>
          <a:solidFill>
            <a:srgbClr val="eaf1fb"/>
          </a:solidFill>
          <a:ln w="12700">
            <a:solidFill>
              <a:srgbClr val="3a6fa8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Shape 29"/>
          <p:cNvSpPr/>
          <p:nvPr/>
        </p:nvSpPr>
        <p:spPr>
          <a:xfrm>
            <a:off x="365760" y="2660760"/>
            <a:ext cx="63720" cy="712800"/>
          </a:xfrm>
          <a:prstGeom prst="rect">
            <a:avLst/>
          </a:prstGeom>
          <a:solidFill>
            <a:srgbClr val="3a6fa8"/>
          </a:solidFill>
          <a:ln w="12700">
            <a:solidFill>
              <a:srgbClr val="3a6fa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33"/>
          <p:cNvSpPr/>
          <p:nvPr/>
        </p:nvSpPr>
        <p:spPr>
          <a:xfrm>
            <a:off x="548640" y="2706480"/>
            <a:ext cx="374868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1" u="none" strike="noStrike">
                <a:solidFill>
                  <a:srgbClr val="3a6fa8"/>
                </a:solidFill>
                <a:effectLst/>
                <a:uFillTx/>
                <a:latin typeface="Calibri"/>
                <a:ea typeface="Calibri"/>
              </a:rPr>
              <a:t>🔵  Calidad mediocre</a:t>
            </a:r>
            <a:endParaRPr lang="es-CO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34"/>
          <p:cNvSpPr/>
          <p:nvPr/>
        </p:nvSpPr>
        <p:spPr>
          <a:xfrm>
            <a:off x="548640" y="3026520"/>
            <a:ext cx="37486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Datos parciales · ingredientes con problemas</a:t>
            </a:r>
            <a:endParaRPr lang="es-CO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30"/>
          <p:cNvSpPr/>
          <p:nvPr/>
        </p:nvSpPr>
        <p:spPr>
          <a:xfrm>
            <a:off x="365760" y="3465720"/>
            <a:ext cx="2874240" cy="712800"/>
          </a:xfrm>
          <a:prstGeom prst="rect">
            <a:avLst/>
          </a:prstGeom>
          <a:solidFill>
            <a:srgbClr val="fef0e3"/>
          </a:solidFill>
          <a:ln w="12700">
            <a:solidFill>
              <a:srgbClr val="c47a2b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Shape 31"/>
          <p:cNvSpPr/>
          <p:nvPr/>
        </p:nvSpPr>
        <p:spPr>
          <a:xfrm>
            <a:off x="365760" y="3465720"/>
            <a:ext cx="63720" cy="712800"/>
          </a:xfrm>
          <a:prstGeom prst="rect">
            <a:avLst/>
          </a:prstGeom>
          <a:solidFill>
            <a:srgbClr val="c47a2b"/>
          </a:solidFill>
          <a:ln w="12700">
            <a:solidFill>
              <a:srgbClr val="c47a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35"/>
          <p:cNvSpPr/>
          <p:nvPr/>
        </p:nvSpPr>
        <p:spPr>
          <a:xfrm>
            <a:off x="548640" y="3511440"/>
            <a:ext cx="374868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1" u="none" strike="noStrike">
                <a:solidFill>
                  <a:srgbClr val="c47a2b"/>
                </a:solidFill>
                <a:effectLst/>
                <a:uFillTx/>
                <a:latin typeface="Calibri"/>
                <a:ea typeface="Calibri"/>
              </a:rPr>
              <a:t>🟠  Populares / duplicados</a:t>
            </a:r>
            <a:endParaRPr lang="es-CO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36"/>
          <p:cNvSpPr/>
          <p:nvPr/>
        </p:nvSpPr>
        <p:spPr>
          <a:xfrm>
            <a:off x="548640" y="3831480"/>
            <a:ext cx="37486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Alto engagement · nombres repetidos</a:t>
            </a:r>
            <a:endParaRPr lang="es-CO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Shape 32"/>
          <p:cNvSpPr/>
          <p:nvPr/>
        </p:nvSpPr>
        <p:spPr>
          <a:xfrm>
            <a:off x="365760" y="4270320"/>
            <a:ext cx="2874240" cy="712800"/>
          </a:xfrm>
          <a:prstGeom prst="rect">
            <a:avLst/>
          </a:prstGeom>
          <a:solidFill>
            <a:srgbClr val="f9eef2"/>
          </a:solidFill>
          <a:ln w="12700">
            <a:solidFill>
              <a:srgbClr val="6d2e4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Shape 33"/>
          <p:cNvSpPr/>
          <p:nvPr/>
        </p:nvSpPr>
        <p:spPr>
          <a:xfrm>
            <a:off x="365760" y="4270320"/>
            <a:ext cx="63720" cy="71280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37"/>
          <p:cNvSpPr/>
          <p:nvPr/>
        </p:nvSpPr>
        <p:spPr>
          <a:xfrm>
            <a:off x="548640" y="4316040"/>
            <a:ext cx="374868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1" u="none" strike="noStrike">
                <a:solidFill>
                  <a:srgbClr val="6d2e46"/>
                </a:solidFill>
                <a:effectLst/>
                <a:uFillTx/>
                <a:latin typeface="Calibri"/>
                <a:ea typeface="Calibri"/>
              </a:rPr>
              <a:t>🟣  Sin categorizar</a:t>
            </a:r>
            <a:endParaRPr lang="es-CO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38"/>
          <p:cNvSpPr/>
          <p:nvPr/>
        </p:nvSpPr>
        <p:spPr>
          <a:xfrm>
            <a:off x="548640" y="4636080"/>
            <a:ext cx="37486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Sin taxonomía · datos mínimos</a:t>
            </a:r>
            <a:endParaRPr lang="es-CO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1" name="Image 2" descr="/home/claude/cluster_resultante.jpg"/>
          <p:cNvPicPr/>
          <p:nvPr/>
        </p:nvPicPr>
        <p:blipFill>
          <a:blip r:embed="rId1"/>
          <a:stretch/>
        </p:blipFill>
        <p:spPr>
          <a:xfrm>
            <a:off x="3600000" y="865440"/>
            <a:ext cx="4572000" cy="4174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Shape 0"/>
          <p:cNvSpPr/>
          <p:nvPr/>
        </p:nvSpPr>
        <p:spPr>
          <a:xfrm>
            <a:off x="0" y="0"/>
            <a:ext cx="109440" cy="51433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1"/>
          <p:cNvSpPr/>
          <p:nvPr/>
        </p:nvSpPr>
        <p:spPr>
          <a:xfrm>
            <a:off x="365760" y="255960"/>
            <a:ext cx="850356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400" b="1" u="none" strike="noStrike">
                <a:solidFill>
                  <a:srgbClr val="2d1b36"/>
                </a:solidFill>
                <a:effectLst/>
                <a:uFillTx/>
                <a:latin typeface="Georgia"/>
                <a:ea typeface="Georgia"/>
              </a:rPr>
              <a:t>Conclusiones</a:t>
            </a:r>
            <a:endParaRPr lang="es-CO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2"/>
          <p:cNvSpPr/>
          <p:nvPr/>
        </p:nvSpPr>
        <p:spPr>
          <a:xfrm>
            <a:off x="365760" y="1051560"/>
            <a:ext cx="1371240" cy="100548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3"/>
          <p:cNvSpPr/>
          <p:nvPr/>
        </p:nvSpPr>
        <p:spPr>
          <a:xfrm>
            <a:off x="365760" y="1051560"/>
            <a:ext cx="13712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70.9%</a:t>
            </a:r>
            <a:endParaRPr lang="es-CO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4"/>
          <p:cNvSpPr/>
          <p:nvPr/>
        </p:nvSpPr>
        <p:spPr>
          <a:xfrm>
            <a:off x="365760" y="1710000"/>
            <a:ext cx="13712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 evaluable</a:t>
            </a:r>
            <a:endParaRPr lang="es-C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5"/>
          <p:cNvSpPr/>
          <p:nvPr/>
        </p:nvSpPr>
        <p:spPr>
          <a:xfrm>
            <a:off x="1920240" y="1188720"/>
            <a:ext cx="68576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50" b="0" u="none" strike="noStrike">
                <a:solidFill>
                  <a:srgbClr val="1e1e1e"/>
                </a:solidFill>
                <a:effectLst/>
                <a:uFillTx/>
                <a:latin typeface="Calibri"/>
                <a:ea typeface="Calibri"/>
              </a:rPr>
              <a:t>35.474 de 50.000 productos recibieron score -1</a:t>
            </a:r>
            <a:endParaRPr lang="es-CO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50" b="0" u="none" strike="noStrike">
                <a:solidFill>
                  <a:srgbClr val="1e1e1e"/>
                </a:solidFill>
                <a:effectLst/>
                <a:uFillTx/>
                <a:latin typeface="Calibri"/>
                <a:ea typeface="Calibri"/>
              </a:rPr>
              <a:t>por ausencia total de ingredientes declarados</a:t>
            </a:r>
            <a:endParaRPr lang="es-CO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Shape 6"/>
          <p:cNvSpPr/>
          <p:nvPr/>
        </p:nvSpPr>
        <p:spPr>
          <a:xfrm>
            <a:off x="365760" y="2286000"/>
            <a:ext cx="1371240" cy="10054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7"/>
          <p:cNvSpPr/>
          <p:nvPr/>
        </p:nvSpPr>
        <p:spPr>
          <a:xfrm>
            <a:off x="365760" y="2286000"/>
            <a:ext cx="13712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5</a:t>
            </a:r>
            <a:endParaRPr lang="es-CO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8"/>
          <p:cNvSpPr/>
          <p:nvPr/>
        </p:nvSpPr>
        <p:spPr>
          <a:xfrm>
            <a:off x="365760" y="2944440"/>
            <a:ext cx="13712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segmentos</a:t>
            </a:r>
            <a:endParaRPr lang="es-C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9"/>
          <p:cNvSpPr/>
          <p:nvPr/>
        </p:nvSpPr>
        <p:spPr>
          <a:xfrm>
            <a:off x="1920240" y="2423160"/>
            <a:ext cx="68576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50" b="0" u="none" strike="noStrike">
                <a:solidFill>
                  <a:srgbClr val="1e1e1e"/>
                </a:solidFill>
                <a:effectLst/>
                <a:uFillTx/>
                <a:latin typeface="Calibri"/>
                <a:ea typeface="Calibri"/>
              </a:rPr>
              <a:t>El clustering confirmó que el catálogo no es homogéneo —</a:t>
            </a:r>
            <a:endParaRPr lang="es-CO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50" b="0" u="none" strike="noStrike">
                <a:solidFill>
                  <a:srgbClr val="1e1e1e"/>
                </a:solidFill>
                <a:effectLst/>
                <a:uFillTx/>
                <a:latin typeface="Calibri"/>
                <a:ea typeface="Calibri"/>
              </a:rPr>
              <a:t>hay perfiles muy distintos sin distinción visible</a:t>
            </a:r>
            <a:endParaRPr lang="es-CO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Shape 10"/>
          <p:cNvSpPr/>
          <p:nvPr/>
        </p:nvSpPr>
        <p:spPr>
          <a:xfrm>
            <a:off x="365760" y="3520440"/>
            <a:ext cx="1371240" cy="100548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11"/>
          <p:cNvSpPr/>
          <p:nvPr/>
        </p:nvSpPr>
        <p:spPr>
          <a:xfrm>
            <a:off x="365760" y="3520440"/>
            <a:ext cx="13712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♻️</a:t>
            </a:r>
            <a:endParaRPr lang="es-CO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12"/>
          <p:cNvSpPr/>
          <p:nvPr/>
        </p:nvSpPr>
        <p:spPr>
          <a:xfrm>
            <a:off x="365760" y="4178880"/>
            <a:ext cx="13712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reutilizable</a:t>
            </a:r>
            <a:endParaRPr lang="es-C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13"/>
          <p:cNvSpPr/>
          <p:nvPr/>
        </p:nvSpPr>
        <p:spPr>
          <a:xfrm>
            <a:off x="1920240" y="3657600"/>
            <a:ext cx="68576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50" b="0" u="none" strike="noStrike">
                <a:solidFill>
                  <a:srgbClr val="1e1e1e"/>
                </a:solidFill>
                <a:effectLst/>
                <a:uFillTx/>
                <a:latin typeface="Calibri"/>
                <a:ea typeface="Calibri"/>
              </a:rPr>
              <a:t>El Random Forest clasifica nuevos productos automáticamente</a:t>
            </a:r>
            <a:endParaRPr lang="es-CO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50" b="0" u="none" strike="noStrike">
                <a:solidFill>
                  <a:srgbClr val="1e1e1e"/>
                </a:solidFill>
                <a:effectLst/>
                <a:uFillTx/>
                <a:latin typeface="Calibri"/>
                <a:ea typeface="Calibri"/>
              </a:rPr>
              <a:t>nueva descarga → mismo análisis reproducible</a:t>
            </a:r>
            <a:endParaRPr lang="es-CO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d1b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Shape 0"/>
          <p:cNvSpPr/>
          <p:nvPr/>
        </p:nvSpPr>
        <p:spPr>
          <a:xfrm>
            <a:off x="0" y="0"/>
            <a:ext cx="164160" cy="514332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" name="Shape 1"/>
          <p:cNvSpPr/>
          <p:nvPr/>
        </p:nvSpPr>
        <p:spPr>
          <a:xfrm>
            <a:off x="164520" y="0"/>
            <a:ext cx="54360" cy="5143320"/>
          </a:xfrm>
          <a:prstGeom prst="rect">
            <a:avLst/>
          </a:prstGeom>
          <a:solidFill>
            <a:srgbClr val="a26769"/>
          </a:solidFill>
          <a:ln w="12700">
            <a:solidFill>
              <a:srgbClr val="a2676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2"/>
          <p:cNvSpPr/>
          <p:nvPr/>
        </p:nvSpPr>
        <p:spPr>
          <a:xfrm>
            <a:off x="548640" y="1005840"/>
            <a:ext cx="8229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Sí es posible saber qué productos son fiables.</a:t>
            </a:r>
            <a:endParaRPr lang="es-CO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3"/>
          <p:cNvSpPr/>
          <p:nvPr/>
        </p:nvSpPr>
        <p:spPr>
          <a:xfrm>
            <a:off x="548640" y="2057400"/>
            <a:ext cx="822924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c9b8c4"/>
                </a:solidFill>
                <a:effectLst/>
                <a:uFillTx/>
                <a:latin typeface="Calibri"/>
                <a:ea typeface="Calibri"/>
              </a:rPr>
              <a:t>Asignando un product_quality_score a cada registro y segmentando</a:t>
            </a:r>
            <a:endParaRPr lang="es-CO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c9b8c4"/>
                </a:solidFill>
                <a:effectLst/>
                <a:uFillTx/>
                <a:latin typeface="Calibri"/>
                <a:ea typeface="Calibri"/>
              </a:rPr>
              <a:t>el catálogo en 5 grupos diferenciados, se puede filtrar y decidir</a:t>
            </a:r>
            <a:endParaRPr lang="es-CO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c9b8c4"/>
                </a:solidFill>
                <a:effectLst/>
                <a:uFillTx/>
                <a:latin typeface="Calibri"/>
                <a:ea typeface="Calibri"/>
              </a:rPr>
              <a:t>qué datos son usables — antes de que contaminen cualquier análisis.</a:t>
            </a:r>
            <a:endParaRPr lang="es-CO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Shape 4"/>
          <p:cNvSpPr/>
          <p:nvPr/>
        </p:nvSpPr>
        <p:spPr>
          <a:xfrm>
            <a:off x="548640" y="3401280"/>
            <a:ext cx="4114800" cy="360"/>
          </a:xfrm>
          <a:prstGeom prst="line">
            <a:avLst/>
          </a:prstGeom>
          <a:ln w="19050">
            <a:solidFill>
              <a:srgbClr val="a2676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5"/>
          <p:cNvSpPr/>
          <p:nvPr/>
        </p:nvSpPr>
        <p:spPr>
          <a:xfrm>
            <a:off x="548640" y="356616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a26769"/>
                </a:solidFill>
                <a:effectLst/>
                <a:uFillTx/>
                <a:latin typeface="Calibri"/>
                <a:ea typeface="Calibri"/>
              </a:rPr>
              <a:t>github.com/MayeLabs/anban_explorador_data</a:t>
            </a:r>
            <a:endParaRPr lang="es-CO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6"/>
          <p:cNvSpPr/>
          <p:nvPr/>
        </p:nvSpPr>
        <p:spPr>
          <a:xfrm>
            <a:off x="548640" y="3977640"/>
            <a:ext cx="8229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7a6070"/>
                </a:solidFill>
                <a:effectLst/>
                <a:uFillTx/>
                <a:latin typeface="Calibri"/>
                <a:ea typeface="Calibri"/>
              </a:rPr>
              <a:t>MayeLabs  ·  Bootcamp IA &amp; Data Science ANBAN 2026</a:t>
            </a:r>
            <a:endParaRPr lang="es-CO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</TotalTime>
  <Application>LibreOffice/25.8.5.2$Linux_X86_64 LibreOffice_project/580$Build-2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2026-06-07T18:42:07Z</dcterms:created>
  <dc:creator>MayeLabs</dc:creator>
  <dc:description/>
  <dc:language>es-CO</dc:language>
  <cp:lastModifiedBy/>
  <dcterms:modified xsi:type="dcterms:W3CDTF">2026-06-07T14:23:44Z</dcterms:modified>
  <cp:revision>3</cp:revision>
  <dc:subject>PptxGenJS Presentation</dc:subject>
  <dc:title>Data Quality a Open Beauty Facts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7</vt:i4>
  </property>
  <property fmtid="{D5CDD505-2E9C-101B-9397-08002B2CF9AE}" pid="3" name="PresentationFormat">
    <vt:lpwstr>On-screen Show (16:9)</vt:lpwstr>
  </property>
  <property fmtid="{D5CDD505-2E9C-101B-9397-08002B2CF9AE}" pid="4" name="Slides">
    <vt:i4>7</vt:i4>
  </property>
</Properties>
</file>