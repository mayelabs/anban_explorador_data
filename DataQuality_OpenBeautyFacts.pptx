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</a:t>
            </a: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 </a:t>
            </a: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</a:t>
            </a: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s-C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7F9F79-AF4A-485A-AF02-D47BB2254788}" type="slidenum"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1C1362-E7E3-42BD-90B8-6B8D227386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F2BC25-25BB-4AD8-B6E7-70031943B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A13914-0EFC-42BB-8AC5-1FA9D2F2F2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DB8890-FFF1-49E4-A6A0-D5B3AD87C0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9CB620-7322-4504-AB1D-C6257AA0CF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AC4D1A-4192-40BD-9650-47CC212B30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EDEB22-0E72-4172-80DF-E39B481FB4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BA618D-696F-4E36-94DB-846ADD594F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306B51-A2AB-448E-9D22-63FB1B4354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C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64520" y="0"/>
            <a:ext cx="53280" cy="514224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40080" y="502920"/>
            <a:ext cx="2598840" cy="345960"/>
          </a:xfrm>
          <a:prstGeom prst="roundRect">
            <a:avLst>
              <a:gd name="adj" fmla="val 26316"/>
            </a:avLst>
          </a:prstGeom>
          <a:solidFill>
            <a:srgbClr val="6d2e46">
              <a:alpha val="60000"/>
            </a:srgbClr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50292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faf7f5"/>
                </a:solidFill>
                <a:effectLst/>
                <a:uFillTx/>
                <a:latin typeface="Calibri"/>
              </a:rPr>
              <a:t> BOOTCAMP IA &amp; DATA SCIENCE · ANBAN 2026</a:t>
            </a:r>
            <a:endParaRPr lang="es-CO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1097280"/>
            <a:ext cx="82281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Data Quality</a:t>
            </a:r>
            <a:endParaRPr lang="es-CO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40080" y="1920240"/>
            <a:ext cx="82281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a26769"/>
                </a:solidFill>
                <a:effectLst/>
                <a:uFillTx/>
                <a:latin typeface="Georgia"/>
                <a:ea typeface="Georgia"/>
              </a:rPr>
              <a:t>a Open Beauty Facts</a:t>
            </a:r>
            <a:endParaRPr lang="es-CO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2788920"/>
            <a:ext cx="68565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c9b8c4"/>
                </a:solidFill>
                <a:effectLst/>
                <a:uFillTx/>
                <a:latin typeface="Calibri"/>
                <a:ea typeface="Calibri"/>
              </a:rPr>
              <a:t>¿Cómo identificar qué productos tienen datos fiables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c9b8c4"/>
                </a:solidFill>
                <a:effectLst/>
                <a:uFillTx/>
                <a:latin typeface="Calibri"/>
                <a:ea typeface="Calibri"/>
              </a:rPr>
              <a:t>para su uso en análisis o modelos futuros?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640080" y="3611880"/>
            <a:ext cx="4114800" cy="360"/>
          </a:xfrm>
          <a:prstGeom prst="line">
            <a:avLst/>
          </a:prstGeom>
          <a:ln w="1905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40080" y="384048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b7a8a"/>
                </a:solidFill>
                <a:effectLst/>
                <a:uFillTx/>
                <a:latin typeface="Calibri"/>
                <a:ea typeface="Calibri"/>
              </a:rPr>
              <a:t>MayeLabs  ·  github.com/MayeLabs/anban_explorador_data</a:t>
            </a:r>
            <a:endParaRPr lang="es-CO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40080" y="420624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7a6070"/>
                </a:solidFill>
                <a:effectLst/>
                <a:uFillTx/>
                <a:latin typeface="Calibri"/>
                <a:ea typeface="Calibri"/>
              </a:rPr>
              <a:t>world.openbeautyfacts.org</a:t>
            </a:r>
            <a:endParaRPr lang="es-CO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08360" cy="5142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365760" y="274320"/>
            <a:ext cx="8502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2d1b36"/>
                </a:solidFill>
                <a:effectLst/>
                <a:uFillTx/>
                <a:latin typeface="Georgia"/>
                <a:ea typeface="Georgia"/>
              </a:rPr>
              <a:t>El Problema</a:t>
            </a:r>
            <a:endParaRPr lang="es-CO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365760" y="1051560"/>
            <a:ext cx="84110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Calibri"/>
              </a:rPr>
              <a:t>Open Beauty Facts es una plataforma colaborativa donde cualquier persona puede registrar productos cosméticos. Esa apertura es su mayor valor, pero también su mayor riesgo:</a:t>
            </a:r>
            <a:endParaRPr lang="es-CO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365760" y="1920240"/>
            <a:ext cx="8411040" cy="684360"/>
          </a:xfrm>
          <a:prstGeom prst="rect">
            <a:avLst/>
          </a:prstGeom>
          <a:solidFill>
            <a:srgbClr val="6d2e46">
              <a:alpha val="12000"/>
            </a:srgbClr>
          </a:solidFill>
          <a:ln w="19050">
            <a:solidFill>
              <a:srgbClr val="6d2e4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365760" y="1920240"/>
            <a:ext cx="53280" cy="684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548640" y="1920240"/>
            <a:ext cx="82281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i="1" u="none" strike="noStrike">
                <a:solidFill>
                  <a:srgbClr val="6d2e46"/>
                </a:solidFill>
                <a:effectLst/>
                <a:uFillTx/>
                <a:latin typeface="Georgia"/>
                <a:ea typeface="Georgia"/>
              </a:rPr>
              <a:t>Nadie verifica que los datos subidos sean fiables.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365760" y="2788920"/>
            <a:ext cx="2604600" cy="132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e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365760" y="2788920"/>
            <a:ext cx="2604600" cy="442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365760" y="2898720"/>
            <a:ext cx="26046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365760" y="3291840"/>
            <a:ext cx="2604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Incompletos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365760" y="3566160"/>
            <a:ext cx="2604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Campos clave vacíos: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sin categoría, sin país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3127320" y="2788920"/>
            <a:ext cx="2604600" cy="132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e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3127320" y="2788920"/>
            <a:ext cx="2604600" cy="442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3127320" y="2898720"/>
            <a:ext cx="26046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🔁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3127320" y="3291840"/>
            <a:ext cx="2604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Duplicados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3127320" y="3566160"/>
            <a:ext cx="2604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Mismo producto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registrado varias veces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5888880" y="2788920"/>
            <a:ext cx="2604600" cy="132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e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5888880" y="2788920"/>
            <a:ext cx="2604600" cy="442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5888880" y="2898720"/>
            <a:ext cx="26046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5888880" y="3291840"/>
            <a:ext cx="2604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Inconsistentes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5888880" y="3566160"/>
            <a:ext cx="2604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Categorías y países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en idiomas mezclados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108360" cy="5142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365760" y="274320"/>
            <a:ext cx="8502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2d1b36"/>
                </a:solidFill>
                <a:effectLst/>
                <a:uFillTx/>
                <a:latin typeface="Georgia"/>
                <a:ea typeface="Georgia"/>
              </a:rPr>
              <a:t>La Solución — Pipeline de 4 Fases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365760" y="868680"/>
            <a:ext cx="8502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Pipeline automatizado en Python · datos crudos → catálogo evaluado, segmentado y clasificable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365760" y="1371600"/>
            <a:ext cx="2010240" cy="233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365760" y="1371600"/>
            <a:ext cx="2010240" cy="50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365760" y="1371600"/>
            <a:ext cx="20102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365760" y="190188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b6b6b"/>
                </a:solidFill>
                <a:effectLst/>
                <a:uFillTx/>
                <a:latin typeface="Consolas"/>
                <a:ea typeface="Consolas"/>
              </a:rPr>
              <a:t>01_ingestion_ETL.i pynb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365760" y="221292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Ingesta + ETL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457200" y="2688480"/>
            <a:ext cx="18273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Descarga 50.000 productos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vía API en 10 lotes → SQLite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9"/>
          <p:cNvSpPr/>
          <p:nvPr/>
        </p:nvSpPr>
        <p:spPr>
          <a:xfrm>
            <a:off x="2496240" y="1371600"/>
            <a:ext cx="2010240" cy="233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0"/>
          <p:cNvSpPr/>
          <p:nvPr/>
        </p:nvSpPr>
        <p:spPr>
          <a:xfrm>
            <a:off x="2496240" y="1371600"/>
            <a:ext cx="2010240" cy="5014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2496240" y="1371600"/>
            <a:ext cx="20102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II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2496240" y="190188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b6b6b"/>
                </a:solidFill>
                <a:effectLst/>
                <a:uFillTx/>
                <a:latin typeface="Consolas"/>
                <a:ea typeface="Consolas"/>
              </a:rPr>
              <a:t>02_data_qa_layer.ipynb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2496240" y="221292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Data Quality Layer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2587680" y="2688480"/>
            <a:ext cx="18273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20 métricas por producto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product_quality_score 0.0–1.0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5"/>
          <p:cNvSpPr/>
          <p:nvPr/>
        </p:nvSpPr>
        <p:spPr>
          <a:xfrm>
            <a:off x="4626720" y="1371600"/>
            <a:ext cx="2010240" cy="233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6"/>
          <p:cNvSpPr/>
          <p:nvPr/>
        </p:nvSpPr>
        <p:spPr>
          <a:xfrm>
            <a:off x="4626720" y="1371600"/>
            <a:ext cx="2010240" cy="50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4626720" y="1371600"/>
            <a:ext cx="20102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III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8"/>
          <p:cNvSpPr/>
          <p:nvPr/>
        </p:nvSpPr>
        <p:spPr>
          <a:xfrm>
            <a:off x="4626720" y="190188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b6b6b"/>
                </a:solidFill>
                <a:effectLst/>
                <a:uFillTx/>
                <a:latin typeface="Consolas"/>
                <a:ea typeface="Consolas"/>
              </a:rPr>
              <a:t>03_eda.ipynb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9"/>
          <p:cNvSpPr/>
          <p:nvPr/>
        </p:nvSpPr>
        <p:spPr>
          <a:xfrm>
            <a:off x="4626720" y="221292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EDA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0"/>
          <p:cNvSpPr/>
          <p:nvPr/>
        </p:nvSpPr>
        <p:spPr>
          <a:xfrm>
            <a:off x="4718160" y="2688480"/>
            <a:ext cx="18273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Distribuciones, correlaciones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y perfiles por marca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1"/>
          <p:cNvSpPr/>
          <p:nvPr/>
        </p:nvSpPr>
        <p:spPr>
          <a:xfrm>
            <a:off x="6757560" y="1371600"/>
            <a:ext cx="2010240" cy="233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2"/>
          <p:cNvSpPr/>
          <p:nvPr/>
        </p:nvSpPr>
        <p:spPr>
          <a:xfrm>
            <a:off x="6757560" y="1371600"/>
            <a:ext cx="2010240" cy="50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3"/>
          <p:cNvSpPr/>
          <p:nvPr/>
        </p:nvSpPr>
        <p:spPr>
          <a:xfrm>
            <a:off x="6757560" y="1371600"/>
            <a:ext cx="20102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IV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4"/>
          <p:cNvSpPr/>
          <p:nvPr/>
        </p:nvSpPr>
        <p:spPr>
          <a:xfrm>
            <a:off x="6757560" y="190188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b6b6b"/>
                </a:solidFill>
                <a:effectLst/>
                <a:uFillTx/>
                <a:latin typeface="Consolas"/>
                <a:ea typeface="Consolas"/>
              </a:rPr>
              <a:t>04_cluster_ml.ipynb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5"/>
          <p:cNvSpPr/>
          <p:nvPr/>
        </p:nvSpPr>
        <p:spPr>
          <a:xfrm>
            <a:off x="6757560" y="221292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Clustering + Clasificador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6"/>
          <p:cNvSpPr/>
          <p:nvPr/>
        </p:nvSpPr>
        <p:spPr>
          <a:xfrm>
            <a:off x="6849000" y="2688480"/>
            <a:ext cx="18273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KMeans k=5 · Random Forest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para clasificar nuevos productos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08360" cy="5142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365760" y="2559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2d1b36"/>
                </a:solidFill>
                <a:effectLst/>
                <a:uFillTx/>
                <a:latin typeface="Georgia"/>
                <a:ea typeface="Georgia"/>
              </a:rPr>
              <a:t>Product Quality Score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365760" y="822960"/>
            <a:ext cx="85024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Un número entre 0.0 y 1.0 por producto — construido en 3 dimensiones ponderadas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365760" y="1188720"/>
            <a:ext cx="260460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365760" y="1188720"/>
            <a:ext cx="2604600" cy="437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365760" y="1188720"/>
            <a:ext cx="26046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50%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457200" y="1664280"/>
            <a:ext cx="2421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Completitud crítica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457200" y="2011680"/>
            <a:ext cx="2421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¿Están los 4 campos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clave rellenos?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3136320" y="1188720"/>
            <a:ext cx="260460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3136320" y="1188720"/>
            <a:ext cx="2604600" cy="4374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3136320" y="1188720"/>
            <a:ext cx="26046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35%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3227760" y="1664280"/>
            <a:ext cx="2421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Calidad ingredientes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3227760" y="2011680"/>
            <a:ext cx="2421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Proporción de ingredientes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reconocidos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5906880" y="1188720"/>
            <a:ext cx="260460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4"/>
          <p:cNvSpPr/>
          <p:nvPr/>
        </p:nvSpPr>
        <p:spPr>
          <a:xfrm>
            <a:off x="5906880" y="1188720"/>
            <a:ext cx="2604600" cy="437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5906880" y="1188720"/>
            <a:ext cx="26046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15%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5998320" y="1664280"/>
            <a:ext cx="2421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General + Taxonomía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7"/>
          <p:cNvSpPr/>
          <p:nvPr/>
        </p:nvSpPr>
        <p:spPr>
          <a:xfrm>
            <a:off x="5998320" y="2011680"/>
            <a:ext cx="2421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Completitud general +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consistencia idioma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8"/>
          <p:cNvSpPr/>
          <p:nvPr/>
        </p:nvSpPr>
        <p:spPr>
          <a:xfrm>
            <a:off x="365760" y="2606040"/>
            <a:ext cx="8411040" cy="1004400"/>
          </a:xfrm>
          <a:prstGeom prst="rect">
            <a:avLst/>
          </a:prstGeom>
          <a:solidFill>
            <a:srgbClr val="2d1b36"/>
          </a:solidFill>
          <a:ln w="12700">
            <a:solidFill>
              <a:srgbClr val="2d1b3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548640" y="2651760"/>
            <a:ext cx="1095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a26769"/>
                </a:solidFill>
                <a:effectLst/>
                <a:uFillTx/>
                <a:latin typeface="Calibri"/>
                <a:ea typeface="Calibri"/>
              </a:rPr>
              <a:t>Fórmula: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0"/>
          <p:cNvSpPr/>
          <p:nvPr/>
        </p:nvSpPr>
        <p:spPr>
          <a:xfrm>
            <a:off x="548640" y="2999160"/>
            <a:ext cx="80452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compl_critical_ratio × 0.50  +  ingredients_quality_score × 0.35  +  (copleteness + taxonomy) × 0.15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1737360" y="2651760"/>
            <a:ext cx="6856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b7a8a"/>
                </a:solidFill>
                <a:effectLst/>
                <a:uFillTx/>
                <a:latin typeface="Consolas"/>
                <a:ea typeface="Consolas"/>
              </a:rPr>
              <a:t>Si  dupl icado → score = 0.0   ·   Sin Ingredientes → score = -1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2"/>
          <p:cNvSpPr/>
          <p:nvPr/>
        </p:nvSpPr>
        <p:spPr>
          <a:xfrm>
            <a:off x="365760" y="3749040"/>
            <a:ext cx="8411040" cy="547200"/>
          </a:xfrm>
          <a:prstGeom prst="rect">
            <a:avLst/>
          </a:prstGeom>
          <a:solidFill>
            <a:srgbClr val="fff3f5"/>
          </a:solidFill>
          <a:ln w="12700">
            <a:solidFill>
              <a:srgbClr val="e8dd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3"/>
          <p:cNvSpPr/>
          <p:nvPr/>
        </p:nvSpPr>
        <p:spPr>
          <a:xfrm>
            <a:off x="457200" y="374904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d2e46"/>
                </a:solidFill>
                <a:effectLst/>
                <a:uFillTx/>
                <a:latin typeface="Calibri"/>
                <a:ea typeface="Calibri"/>
              </a:rPr>
              <a:t>⚠️  Un duplicado o la ausencia total de ingredientes invalida el score independientemente del resto de dimensiones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19"/>
          <p:cNvSpPr/>
          <p:nvPr/>
        </p:nvSpPr>
        <p:spPr>
          <a:xfrm>
            <a:off x="0" y="0"/>
            <a:ext cx="108360" cy="5142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2"/>
          <p:cNvSpPr/>
          <p:nvPr/>
        </p:nvSpPr>
        <p:spPr>
          <a:xfrm>
            <a:off x="365760" y="182880"/>
            <a:ext cx="85024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2d1b36"/>
                </a:solidFill>
                <a:effectLst/>
                <a:uFillTx/>
                <a:latin typeface="Georgia"/>
                <a:ea typeface="Georgia"/>
              </a:rPr>
              <a:t>¿Por qué k=5?</a:t>
            </a:r>
            <a:endParaRPr lang="es-CO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9"/>
          <p:cNvSpPr/>
          <p:nvPr/>
        </p:nvSpPr>
        <p:spPr>
          <a:xfrm>
            <a:off x="365760" y="713160"/>
            <a:ext cx="8502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Se evaluaron k=2 a k=10 con tres métricas de validación interna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3" descr="/home/claude/determinacion_cluster.jpg"/>
          <p:cNvPicPr/>
          <p:nvPr/>
        </p:nvPicPr>
        <p:blipFill>
          <a:blip r:embed="rId1"/>
          <a:stretch/>
        </p:blipFill>
        <p:spPr>
          <a:xfrm>
            <a:off x="365760" y="1078920"/>
            <a:ext cx="8411040" cy="217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Shape 20"/>
          <p:cNvSpPr/>
          <p:nvPr/>
        </p:nvSpPr>
        <p:spPr>
          <a:xfrm>
            <a:off x="365760" y="3401640"/>
            <a:ext cx="265032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4"/>
          <p:cNvSpPr/>
          <p:nvPr/>
        </p:nvSpPr>
        <p:spPr>
          <a:xfrm>
            <a:off x="365760" y="3401640"/>
            <a:ext cx="2650320" cy="53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0"/>
          <p:cNvSpPr/>
          <p:nvPr/>
        </p:nvSpPr>
        <p:spPr>
          <a:xfrm>
            <a:off x="475560" y="3511440"/>
            <a:ext cx="24307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Elbow (Inercia)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1"/>
          <p:cNvSpPr/>
          <p:nvPr/>
        </p:nvSpPr>
        <p:spPr>
          <a:xfrm>
            <a:off x="475560" y="3840480"/>
            <a:ext cx="243072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La curva se aplana a partir de k=5 — más clusters no aportan ganancia significativa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5"/>
          <p:cNvSpPr/>
          <p:nvPr/>
        </p:nvSpPr>
        <p:spPr>
          <a:xfrm>
            <a:off x="3154680" y="3401640"/>
            <a:ext cx="265032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6"/>
          <p:cNvSpPr/>
          <p:nvPr/>
        </p:nvSpPr>
        <p:spPr>
          <a:xfrm>
            <a:off x="3154680" y="3401640"/>
            <a:ext cx="2650320" cy="532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2"/>
          <p:cNvSpPr/>
          <p:nvPr/>
        </p:nvSpPr>
        <p:spPr>
          <a:xfrm>
            <a:off x="3264480" y="3511440"/>
            <a:ext cx="24307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a26769"/>
                </a:solidFill>
                <a:effectLst/>
                <a:uFillTx/>
                <a:latin typeface="Calibri"/>
                <a:ea typeface="Calibri"/>
              </a:rPr>
              <a:t>Silhouette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3"/>
          <p:cNvSpPr/>
          <p:nvPr/>
        </p:nvSpPr>
        <p:spPr>
          <a:xfrm>
            <a:off x="3264480" y="3840480"/>
            <a:ext cx="243072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Máximo en k=2, pero k=5 mantiene un valor razonable con mayor interpretabilidad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7"/>
          <p:cNvSpPr/>
          <p:nvPr/>
        </p:nvSpPr>
        <p:spPr>
          <a:xfrm>
            <a:off x="5943600" y="3401640"/>
            <a:ext cx="265032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8"/>
          <p:cNvSpPr/>
          <p:nvPr/>
        </p:nvSpPr>
        <p:spPr>
          <a:xfrm>
            <a:off x="5943600" y="3401640"/>
            <a:ext cx="2650320" cy="53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4"/>
          <p:cNvSpPr/>
          <p:nvPr/>
        </p:nvSpPr>
        <p:spPr>
          <a:xfrm>
            <a:off x="6053400" y="3511440"/>
            <a:ext cx="24307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Davies-Bouldin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5"/>
          <p:cNvSpPr/>
          <p:nvPr/>
        </p:nvSpPr>
        <p:spPr>
          <a:xfrm>
            <a:off x="6053400" y="3840480"/>
            <a:ext cx="243072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Mínimo en k=5 — los clusters están bien separados y son compactos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23"/>
          <p:cNvSpPr/>
          <p:nvPr/>
        </p:nvSpPr>
        <p:spPr>
          <a:xfrm>
            <a:off x="0" y="0"/>
            <a:ext cx="108360" cy="5142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7"/>
          <p:cNvSpPr/>
          <p:nvPr/>
        </p:nvSpPr>
        <p:spPr>
          <a:xfrm>
            <a:off x="365760" y="182880"/>
            <a:ext cx="85024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2d1b36"/>
                </a:solidFill>
                <a:effectLst/>
                <a:uFillTx/>
                <a:latin typeface="Georgia"/>
                <a:ea typeface="Georgia"/>
              </a:rPr>
              <a:t>Resultados — 5 Segmentos de Calidad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8"/>
          <p:cNvSpPr/>
          <p:nvPr/>
        </p:nvSpPr>
        <p:spPr>
          <a:xfrm>
            <a:off x="365760" y="713160"/>
            <a:ext cx="8502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KMeans k=5 · PCA — 54.7% varianza explicada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4"/>
          <p:cNvSpPr/>
          <p:nvPr/>
        </p:nvSpPr>
        <p:spPr>
          <a:xfrm>
            <a:off x="365760" y="1051560"/>
            <a:ext cx="2873160" cy="711720"/>
          </a:xfrm>
          <a:prstGeom prst="rect">
            <a:avLst/>
          </a:prstGeom>
          <a:solidFill>
            <a:srgbClr val="eaf4ea"/>
          </a:solidFill>
          <a:ln w="12700">
            <a:solidFill>
              <a:srgbClr val="2c5f2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5"/>
          <p:cNvSpPr/>
          <p:nvPr/>
        </p:nvSpPr>
        <p:spPr>
          <a:xfrm>
            <a:off x="365760" y="1051560"/>
            <a:ext cx="62640" cy="711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9"/>
          <p:cNvSpPr/>
          <p:nvPr/>
        </p:nvSpPr>
        <p:spPr>
          <a:xfrm>
            <a:off x="548640" y="1097280"/>
            <a:ext cx="37476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🟢  Bien documentados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0"/>
          <p:cNvSpPr/>
          <p:nvPr/>
        </p:nvSpPr>
        <p:spPr>
          <a:xfrm>
            <a:off x="548640" y="141732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Score alto · datos completos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6"/>
          <p:cNvSpPr/>
          <p:nvPr/>
        </p:nvSpPr>
        <p:spPr>
          <a:xfrm>
            <a:off x="365760" y="1856160"/>
            <a:ext cx="2873160" cy="711720"/>
          </a:xfrm>
          <a:prstGeom prst="rect">
            <a:avLst/>
          </a:prstGeom>
          <a:solidFill>
            <a:srgbClr val="faecea"/>
          </a:solidFill>
          <a:ln w="12700">
            <a:solidFill>
              <a:srgbClr val="b8504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7"/>
          <p:cNvSpPr/>
          <p:nvPr/>
        </p:nvSpPr>
        <p:spPr>
          <a:xfrm>
            <a:off x="365760" y="1856160"/>
            <a:ext cx="62640" cy="711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1"/>
          <p:cNvSpPr/>
          <p:nvPr/>
        </p:nvSpPr>
        <p:spPr>
          <a:xfrm>
            <a:off x="548640" y="1901880"/>
            <a:ext cx="37476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🔴  Incompletos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2"/>
          <p:cNvSpPr/>
          <p:nvPr/>
        </p:nvSpPr>
        <p:spPr>
          <a:xfrm>
            <a:off x="548640" y="222192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Sin categoría · sin país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8"/>
          <p:cNvSpPr/>
          <p:nvPr/>
        </p:nvSpPr>
        <p:spPr>
          <a:xfrm>
            <a:off x="365760" y="2660760"/>
            <a:ext cx="2873160" cy="711720"/>
          </a:xfrm>
          <a:prstGeom prst="rect">
            <a:avLst/>
          </a:prstGeom>
          <a:solidFill>
            <a:srgbClr val="eaf1fb"/>
          </a:solidFill>
          <a:ln w="12700">
            <a:solidFill>
              <a:srgbClr val="3a6fa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9"/>
          <p:cNvSpPr/>
          <p:nvPr/>
        </p:nvSpPr>
        <p:spPr>
          <a:xfrm>
            <a:off x="365760" y="2660760"/>
            <a:ext cx="62640" cy="711720"/>
          </a:xfrm>
          <a:prstGeom prst="rect">
            <a:avLst/>
          </a:prstGeom>
          <a:solidFill>
            <a:srgbClr val="3a6fa8"/>
          </a:solidFill>
          <a:ln w="12700">
            <a:solidFill>
              <a:srgbClr val="3a6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3"/>
          <p:cNvSpPr/>
          <p:nvPr/>
        </p:nvSpPr>
        <p:spPr>
          <a:xfrm>
            <a:off x="548640" y="2706480"/>
            <a:ext cx="37476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3a6fa8"/>
                </a:solidFill>
                <a:effectLst/>
                <a:uFillTx/>
                <a:latin typeface="Calibri"/>
                <a:ea typeface="Calibri"/>
              </a:rPr>
              <a:t>🔵  Calidad mediocre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4"/>
          <p:cNvSpPr/>
          <p:nvPr/>
        </p:nvSpPr>
        <p:spPr>
          <a:xfrm>
            <a:off x="548640" y="302652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Datos parciales · ingredientes con problemas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0"/>
          <p:cNvSpPr/>
          <p:nvPr/>
        </p:nvSpPr>
        <p:spPr>
          <a:xfrm>
            <a:off x="365760" y="3465720"/>
            <a:ext cx="2873160" cy="711720"/>
          </a:xfrm>
          <a:prstGeom prst="rect">
            <a:avLst/>
          </a:prstGeom>
          <a:solidFill>
            <a:srgbClr val="fef0e3"/>
          </a:solidFill>
          <a:ln w="12700">
            <a:solidFill>
              <a:srgbClr val="c47a2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1"/>
          <p:cNvSpPr/>
          <p:nvPr/>
        </p:nvSpPr>
        <p:spPr>
          <a:xfrm>
            <a:off x="365760" y="3465720"/>
            <a:ext cx="62640" cy="711720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5"/>
          <p:cNvSpPr/>
          <p:nvPr/>
        </p:nvSpPr>
        <p:spPr>
          <a:xfrm>
            <a:off x="548640" y="3511440"/>
            <a:ext cx="37476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c47a2b"/>
                </a:solidFill>
                <a:effectLst/>
                <a:uFillTx/>
                <a:latin typeface="Calibri"/>
                <a:ea typeface="Calibri"/>
              </a:rPr>
              <a:t>🟠  Populares / duplicados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6"/>
          <p:cNvSpPr/>
          <p:nvPr/>
        </p:nvSpPr>
        <p:spPr>
          <a:xfrm>
            <a:off x="548640" y="383148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Alto engagement · nombres repetidos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2"/>
          <p:cNvSpPr/>
          <p:nvPr/>
        </p:nvSpPr>
        <p:spPr>
          <a:xfrm>
            <a:off x="365760" y="4270320"/>
            <a:ext cx="2873160" cy="711720"/>
          </a:xfrm>
          <a:prstGeom prst="rect">
            <a:avLst/>
          </a:prstGeom>
          <a:solidFill>
            <a:srgbClr val="f9eef2"/>
          </a:solidFill>
          <a:ln w="12700">
            <a:solidFill>
              <a:srgbClr val="6d2e4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3"/>
          <p:cNvSpPr/>
          <p:nvPr/>
        </p:nvSpPr>
        <p:spPr>
          <a:xfrm>
            <a:off x="365760" y="4270320"/>
            <a:ext cx="62640" cy="711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7"/>
          <p:cNvSpPr/>
          <p:nvPr/>
        </p:nvSpPr>
        <p:spPr>
          <a:xfrm>
            <a:off x="548640" y="4316040"/>
            <a:ext cx="37476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6d2e46"/>
                </a:solidFill>
                <a:effectLst/>
                <a:uFillTx/>
                <a:latin typeface="Calibri"/>
                <a:ea typeface="Calibri"/>
              </a:rPr>
              <a:t>🟣  Sin categorizar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8"/>
          <p:cNvSpPr/>
          <p:nvPr/>
        </p:nvSpPr>
        <p:spPr>
          <a:xfrm>
            <a:off x="548640" y="4636080"/>
            <a:ext cx="37476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Sin taxonomía · datos mínimos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2" descr="/home/claude/cluster_resultante.jpg"/>
          <p:cNvPicPr/>
          <p:nvPr/>
        </p:nvPicPr>
        <p:blipFill>
          <a:blip r:embed="rId1"/>
          <a:stretch/>
        </p:blipFill>
        <p:spPr>
          <a:xfrm>
            <a:off x="3600000" y="865440"/>
            <a:ext cx="4570920" cy="417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108360" cy="5142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365760" y="2559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2d1b36"/>
                </a:solidFill>
                <a:effectLst/>
                <a:uFillTx/>
                <a:latin typeface="Georgia"/>
                <a:ea typeface="Georgia"/>
              </a:rPr>
              <a:t>Conclusiones</a:t>
            </a:r>
            <a:endParaRPr lang="es-CO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365760" y="1710000"/>
            <a:ext cx="1370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365760" y="1836720"/>
            <a:ext cx="893880" cy="759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365760" y="1836720"/>
            <a:ext cx="89388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s-CO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365760" y="2944440"/>
            <a:ext cx="1370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segmentos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1440000" y="1876320"/>
            <a:ext cx="737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Calibri"/>
              </a:rPr>
              <a:t>perfiles diferenciados — desde productos bien documentados con scores superiores a 0.8, hasta registros sin taxonomía ni datos mínimos.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365760" y="3520440"/>
            <a:ext cx="13701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♻️</a:t>
            </a:r>
            <a:endParaRPr lang="es-CO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365400" y="905040"/>
            <a:ext cx="1553760" cy="685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6"/>
          <p:cNvSpPr/>
          <p:nvPr/>
        </p:nvSpPr>
        <p:spPr>
          <a:xfrm>
            <a:off x="365400" y="905040"/>
            <a:ext cx="15537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70.9%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7"/>
          <p:cNvSpPr/>
          <p:nvPr/>
        </p:nvSpPr>
        <p:spPr>
          <a:xfrm>
            <a:off x="365400" y="1343880"/>
            <a:ext cx="15537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evaluable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9"/>
          <p:cNvSpPr/>
          <p:nvPr/>
        </p:nvSpPr>
        <p:spPr>
          <a:xfrm>
            <a:off x="2194200" y="905040"/>
            <a:ext cx="1553760" cy="685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8"/>
          <p:cNvSpPr/>
          <p:nvPr/>
        </p:nvSpPr>
        <p:spPr>
          <a:xfrm>
            <a:off x="2194200" y="905040"/>
            <a:ext cx="15537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29.1%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9"/>
          <p:cNvSpPr/>
          <p:nvPr/>
        </p:nvSpPr>
        <p:spPr>
          <a:xfrm>
            <a:off x="2194200" y="1343880"/>
            <a:ext cx="15537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score válido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0"/>
          <p:cNvSpPr/>
          <p:nvPr/>
        </p:nvSpPr>
        <p:spPr>
          <a:xfrm>
            <a:off x="4114440" y="905040"/>
            <a:ext cx="46627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Calibri"/>
              </a:rPr>
              <a:t>35.474 productos recibieron score -1 por ausencia total de ingredientes.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Calibri"/>
              </a:rPr>
              <a:t>Del 29.1% válido, la calidad no es uniforme —</a:t>
            </a:r>
            <a:r>
              <a:rPr lang="en-US" sz="10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Calibri"/>
              </a:rPr>
              <a:t> el catálogo no puede tratarse como dataset homogéneo.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40"/>
          <p:cNvSpPr/>
          <p:nvPr/>
        </p:nvSpPr>
        <p:spPr>
          <a:xfrm>
            <a:off x="365400" y="1709640"/>
            <a:ext cx="8412480" cy="360"/>
          </a:xfrm>
          <a:prstGeom prst="line">
            <a:avLst/>
          </a:prstGeom>
          <a:ln w="10160">
            <a:solidFill>
              <a:srgbClr val="e0d8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4"/>
          <p:cNvSpPr/>
          <p:nvPr/>
        </p:nvSpPr>
        <p:spPr>
          <a:xfrm>
            <a:off x="365760" y="402732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100" b="1" u="none" strike="noStrike">
                <a:solidFill>
                  <a:srgbClr val="2d1b36"/>
                </a:solidFill>
                <a:effectLst/>
                <a:uFillTx/>
                <a:latin typeface="Calibri"/>
                <a:ea typeface="Calibri"/>
              </a:rPr>
              <a:t>Problemas más frecuentes </a:t>
            </a:r>
            <a:endParaRPr lang="es-CO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8"/>
          <p:cNvSpPr/>
          <p:nvPr/>
        </p:nvSpPr>
        <p:spPr>
          <a:xfrm>
            <a:off x="3194640" y="4320000"/>
            <a:ext cx="2605320" cy="72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9"/>
          <p:cNvSpPr/>
          <p:nvPr/>
        </p:nvSpPr>
        <p:spPr>
          <a:xfrm>
            <a:off x="3200040" y="4300560"/>
            <a:ext cx="2605320" cy="360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7"/>
          <p:cNvSpPr/>
          <p:nvPr/>
        </p:nvSpPr>
        <p:spPr>
          <a:xfrm>
            <a:off x="3194640" y="4333320"/>
            <a:ext cx="2605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a26769"/>
                </a:solidFill>
                <a:effectLst/>
                <a:uFillTx/>
                <a:latin typeface="Georgia"/>
                <a:ea typeface="Georgia"/>
              </a:rPr>
              <a:t>~1.600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8"/>
          <p:cNvSpPr/>
          <p:nvPr/>
        </p:nvSpPr>
        <p:spPr>
          <a:xfrm>
            <a:off x="3194640" y="4680000"/>
            <a:ext cx="260532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conflicto de idioma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países vs categorías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50"/>
          <p:cNvSpPr/>
          <p:nvPr/>
        </p:nvSpPr>
        <p:spPr>
          <a:xfrm>
            <a:off x="6034680" y="4336920"/>
            <a:ext cx="2605320" cy="72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51"/>
          <p:cNvSpPr/>
          <p:nvPr/>
        </p:nvSpPr>
        <p:spPr>
          <a:xfrm>
            <a:off x="6034680" y="4300560"/>
            <a:ext cx="2605320" cy="360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9"/>
          <p:cNvSpPr/>
          <p:nvPr/>
        </p:nvSpPr>
        <p:spPr>
          <a:xfrm>
            <a:off x="6029280" y="4320000"/>
            <a:ext cx="2605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b8860b"/>
                </a:solidFill>
                <a:effectLst/>
                <a:uFillTx/>
                <a:latin typeface="Georgia"/>
                <a:ea typeface="Georgia"/>
              </a:rPr>
              <a:t>~4.000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0"/>
          <p:cNvSpPr/>
          <p:nvPr/>
        </p:nvSpPr>
        <p:spPr>
          <a:xfrm>
            <a:off x="6029280" y="4680000"/>
            <a:ext cx="260532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discrepancia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Sum &gt; total ingredientes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52"/>
          <p:cNvSpPr/>
          <p:nvPr/>
        </p:nvSpPr>
        <p:spPr>
          <a:xfrm>
            <a:off x="360000" y="5078520"/>
            <a:ext cx="8412480" cy="360"/>
          </a:xfrm>
          <a:prstGeom prst="line">
            <a:avLst/>
          </a:prstGeom>
          <a:ln w="10160">
            <a:solidFill>
              <a:srgbClr val="e0d8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42"/>
          <p:cNvSpPr/>
          <p:nvPr/>
        </p:nvSpPr>
        <p:spPr>
          <a:xfrm>
            <a:off x="365760" y="4336920"/>
            <a:ext cx="2605320" cy="68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7"/>
          <p:cNvSpPr/>
          <p:nvPr/>
        </p:nvSpPr>
        <p:spPr>
          <a:xfrm>
            <a:off x="365760" y="4300920"/>
            <a:ext cx="2605320" cy="36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5"/>
          <p:cNvSpPr/>
          <p:nvPr/>
        </p:nvSpPr>
        <p:spPr>
          <a:xfrm>
            <a:off x="360360" y="4320000"/>
            <a:ext cx="2605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6d2e46"/>
                </a:solidFill>
                <a:effectLst/>
                <a:uFillTx/>
                <a:latin typeface="Georgia"/>
                <a:ea typeface="Georgia"/>
              </a:rPr>
              <a:t>~2.800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6"/>
          <p:cNvSpPr/>
          <p:nvPr/>
        </p:nvSpPr>
        <p:spPr>
          <a:xfrm>
            <a:off x="360360" y="4511880"/>
            <a:ext cx="26053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nombres duplicados</a:t>
            </a:r>
            <a:endParaRPr lang="es-CO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"/>
          <p:cNvPicPr/>
          <p:nvPr/>
        </p:nvPicPr>
        <p:blipFill>
          <a:blip r:embed="rId1"/>
          <a:stretch/>
        </p:blipFill>
        <p:spPr>
          <a:xfrm>
            <a:off x="1440000" y="2266200"/>
            <a:ext cx="7380000" cy="146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"/>
          <p:cNvPicPr/>
          <p:nvPr/>
        </p:nvPicPr>
        <p:blipFill>
          <a:blip r:embed="rId2"/>
          <a:stretch/>
        </p:blipFill>
        <p:spPr>
          <a:xfrm rot="12600">
            <a:off x="358560" y="2881800"/>
            <a:ext cx="1074240" cy="61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41"/>
          <p:cNvSpPr/>
          <p:nvPr/>
        </p:nvSpPr>
        <p:spPr>
          <a:xfrm>
            <a:off x="0" y="0"/>
            <a:ext cx="108360" cy="5142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1"/>
          <p:cNvSpPr/>
          <p:nvPr/>
        </p:nvSpPr>
        <p:spPr>
          <a:xfrm>
            <a:off x="365760" y="255960"/>
            <a:ext cx="850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2d1b36"/>
                </a:solidFill>
                <a:effectLst/>
                <a:uFillTx/>
                <a:latin typeface="Georgia"/>
                <a:ea typeface="Georgia"/>
              </a:rPr>
              <a:t>Conclusiones</a:t>
            </a:r>
            <a:endParaRPr lang="es-CO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4"/>
          <p:cNvSpPr/>
          <p:nvPr/>
        </p:nvSpPr>
        <p:spPr>
          <a:xfrm>
            <a:off x="249480" y="1800000"/>
            <a:ext cx="1370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segmentos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3"/>
          <p:cNvSpPr/>
          <p:nvPr/>
        </p:nvSpPr>
        <p:spPr>
          <a:xfrm>
            <a:off x="435240" y="1399680"/>
            <a:ext cx="1004400" cy="939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6"/>
          <p:cNvSpPr/>
          <p:nvPr/>
        </p:nvSpPr>
        <p:spPr>
          <a:xfrm>
            <a:off x="365760" y="3520440"/>
            <a:ext cx="13701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♻️</a:t>
            </a:r>
            <a:endParaRPr lang="es-CO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7"/>
          <p:cNvSpPr/>
          <p:nvPr/>
        </p:nvSpPr>
        <p:spPr>
          <a:xfrm>
            <a:off x="435240" y="1759680"/>
            <a:ext cx="10044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reutilizable</a:t>
            </a:r>
            <a:endParaRPr lang="es-CO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8"/>
          <p:cNvSpPr/>
          <p:nvPr/>
        </p:nvSpPr>
        <p:spPr>
          <a:xfrm>
            <a:off x="1603080" y="1440000"/>
            <a:ext cx="18165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Calibri"/>
              </a:rPr>
              <a:t>El Random Forest clasifica nuevos productos automáticamente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Calibri"/>
              </a:rPr>
              <a:t>nueva descarga → mismo análisis reproducible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6"/>
          <p:cNvSpPr/>
          <p:nvPr/>
        </p:nvSpPr>
        <p:spPr>
          <a:xfrm>
            <a:off x="360000" y="899640"/>
            <a:ext cx="8412480" cy="360"/>
          </a:xfrm>
          <a:prstGeom prst="line">
            <a:avLst/>
          </a:prstGeom>
          <a:ln w="10160">
            <a:solidFill>
              <a:srgbClr val="e0d8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"/>
          <p:cNvPicPr/>
          <p:nvPr/>
        </p:nvPicPr>
        <p:blipFill>
          <a:blip r:embed="rId1"/>
          <a:stretch/>
        </p:blipFill>
        <p:spPr>
          <a:xfrm>
            <a:off x="3600000" y="1080000"/>
            <a:ext cx="4679640" cy="390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164520" y="0"/>
            <a:ext cx="53280" cy="514224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548640" y="1005840"/>
            <a:ext cx="82281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Sí es posible saber qué productos son fiables.</a:t>
            </a:r>
            <a:endParaRPr lang="es-CO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548640" y="2057400"/>
            <a:ext cx="822816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9b8c4"/>
                </a:solidFill>
                <a:effectLst/>
                <a:uFillTx/>
                <a:latin typeface="Calibri"/>
                <a:ea typeface="Calibri"/>
              </a:rPr>
              <a:t>Asignando un product_quality_score a cada registro y segmentando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9b8c4"/>
                </a:solidFill>
                <a:effectLst/>
                <a:uFillTx/>
                <a:latin typeface="Calibri"/>
                <a:ea typeface="Calibri"/>
              </a:rPr>
              <a:t>el catálogo en 5 grupos diferenciados, se puede filtrar y decidir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9b8c4"/>
                </a:solidFill>
                <a:effectLst/>
                <a:uFillTx/>
                <a:latin typeface="Calibri"/>
                <a:ea typeface="Calibri"/>
              </a:rPr>
              <a:t>qué datos son usables — antes de que contaminen cualquier análisis.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548640" y="3401280"/>
            <a:ext cx="4114800" cy="360"/>
          </a:xfrm>
          <a:prstGeom prst="line">
            <a:avLst/>
          </a:prstGeom>
          <a:ln w="1905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548640" y="3566160"/>
            <a:ext cx="8228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26769"/>
                </a:solidFill>
                <a:effectLst/>
                <a:uFillTx/>
                <a:latin typeface="Calibri"/>
                <a:ea typeface="Calibri"/>
              </a:rPr>
              <a:t>github.com/MayeLabs/anban_explorador_data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548640" y="397764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7a6070"/>
                </a:solidFill>
                <a:effectLst/>
                <a:uFillTx/>
                <a:latin typeface="Calibri"/>
                <a:ea typeface="Calibri"/>
              </a:rPr>
              <a:t>MayeLabs  ·  Bootcamp IA &amp; Data Science ANBAN 2026</a:t>
            </a:r>
            <a:endParaRPr lang="es-CO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2026-06-07T18:42:07Z</dcterms:created>
  <dc:creator>MayeLabs</dc:creator>
  <dc:description/>
  <dc:language>es-CO</dc:language>
  <cp:lastModifiedBy/>
  <dcterms:modified xsi:type="dcterms:W3CDTF">2026-06-08T13:00:04Z</dcterms:modified>
  <cp:revision>7</cp:revision>
  <dc:subject>PptxGenJS Presentation</dc:subject>
  <dc:title>Data Quality a Open Beauty Facts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