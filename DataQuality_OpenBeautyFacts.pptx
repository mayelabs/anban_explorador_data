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</a:t>
            </a:r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the </a:t>
            </a:r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endParaRPr lang="es-CO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80C7770-D7B9-4D3E-A073-4157342BC579}" type="slidenum"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61839E-9F76-426D-994A-248B979719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2F164E-24D7-4191-934A-B916155BD3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2CE9D7-F6AD-4183-9B45-009406CE54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5CDE13-BD21-4DF4-B16F-ACA6EB8E79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5ADDF2-125C-4358-A2FD-FAEDDE3317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57E025-960D-4CF2-AC8B-17622B36AD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306E7C-2886-4029-853D-C2732117CC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3DBAD7-77A2-42BE-A83B-0BD46BF597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CO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CO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C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CO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64520" y="0"/>
            <a:ext cx="54000" cy="51429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640080" y="502920"/>
            <a:ext cx="2599560" cy="346680"/>
          </a:xfrm>
          <a:prstGeom prst="roundRect">
            <a:avLst>
              <a:gd name="adj" fmla="val 26316"/>
            </a:avLst>
          </a:prstGeom>
          <a:solidFill>
            <a:srgbClr val="6d2e46">
              <a:alpha val="60000"/>
            </a:srgbClr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40080" y="502920"/>
            <a:ext cx="25596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1" u="none" spc="150" strike="noStrike">
                <a:solidFill>
                  <a:srgbClr val="faf7f5"/>
                </a:solidFill>
                <a:effectLst/>
                <a:uFillTx/>
                <a:latin typeface="Calibri"/>
              </a:rPr>
              <a:t> BOOTCAMP IA &amp; DATA SCIENCE · ANBAN 2026</a:t>
            </a:r>
            <a:endParaRPr lang="es-CO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40080" y="109728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Data Quality</a:t>
            </a:r>
            <a:endParaRPr lang="es-CO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40080" y="1920240"/>
            <a:ext cx="82288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0" u="none" strike="noStrike">
                <a:solidFill>
                  <a:srgbClr val="a26769"/>
                </a:solidFill>
                <a:effectLst/>
                <a:uFillTx/>
                <a:latin typeface="Georgia"/>
                <a:ea typeface="Georgia"/>
              </a:rPr>
              <a:t>a Open Beauty Facts</a:t>
            </a:r>
            <a:endParaRPr lang="es-CO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640080" y="2788920"/>
            <a:ext cx="68572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¿Cómo identificar qué productos tienen datos fiables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para su uso en análisis o modelos futuros?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640080" y="3611880"/>
            <a:ext cx="4114800" cy="360"/>
          </a:xfrm>
          <a:prstGeom prst="line">
            <a:avLst/>
          </a:prstGeom>
          <a:ln w="1905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640080" y="3840480"/>
            <a:ext cx="8228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b7a8a"/>
                </a:solidFill>
                <a:effectLst/>
                <a:uFillTx/>
                <a:latin typeface="Calibri"/>
                <a:ea typeface="Calibri"/>
              </a:rPr>
              <a:t>MayeLabs  ·  github.com/MayeLabs/anban_explorador_data</a:t>
            </a:r>
            <a:endParaRPr lang="es-CO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640080" y="4206240"/>
            <a:ext cx="8228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a6070"/>
                </a:solidFill>
                <a:effectLst/>
                <a:uFillTx/>
                <a:latin typeface="Calibri"/>
                <a:ea typeface="Calibri"/>
              </a:rPr>
              <a:t>world.openbeautyfacts.org</a:t>
            </a:r>
            <a:endParaRPr lang="es-CO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365760" y="274320"/>
            <a:ext cx="85032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El Problema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365760" y="1051560"/>
            <a:ext cx="84117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Open Beauty Facts es una plataforma colaborativa donde cualquier persona puede registrar productos cosméticos. Esa apertura es su mayor valor, pero también su mayor riesgo: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365760" y="1920240"/>
            <a:ext cx="8411760" cy="685080"/>
          </a:xfrm>
          <a:prstGeom prst="rect">
            <a:avLst/>
          </a:prstGeom>
          <a:solidFill>
            <a:srgbClr val="6d2e46">
              <a:alpha val="12000"/>
            </a:srgbClr>
          </a:solidFill>
          <a:ln w="19050">
            <a:solidFill>
              <a:srgbClr val="6d2e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365760" y="1920240"/>
            <a:ext cx="54000" cy="6850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548640" y="1920240"/>
            <a:ext cx="82288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i="1" u="none" strike="noStrike">
                <a:solidFill>
                  <a:srgbClr val="6d2e46"/>
                </a:solidFill>
                <a:effectLst/>
                <a:uFillTx/>
                <a:latin typeface="Georgia"/>
                <a:ea typeface="Georgia"/>
              </a:rPr>
              <a:t>Nadie verifica que los datos subidos sean fiables.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365760" y="2788920"/>
            <a:ext cx="2605320" cy="1325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e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365760" y="2788920"/>
            <a:ext cx="2605320" cy="450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8"/>
          <p:cNvSpPr/>
          <p:nvPr/>
        </p:nvSpPr>
        <p:spPr>
          <a:xfrm>
            <a:off x="365760" y="2898720"/>
            <a:ext cx="26053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📋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9"/>
          <p:cNvSpPr/>
          <p:nvPr/>
        </p:nvSpPr>
        <p:spPr>
          <a:xfrm>
            <a:off x="365760" y="3291840"/>
            <a:ext cx="2605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Incompletos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365760" y="3566160"/>
            <a:ext cx="2605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Campos clave vacíos: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sin categoría, sin país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1"/>
          <p:cNvSpPr/>
          <p:nvPr/>
        </p:nvSpPr>
        <p:spPr>
          <a:xfrm>
            <a:off x="3127320" y="2788920"/>
            <a:ext cx="2605320" cy="1325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e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2"/>
          <p:cNvSpPr/>
          <p:nvPr/>
        </p:nvSpPr>
        <p:spPr>
          <a:xfrm>
            <a:off x="3127320" y="2788920"/>
            <a:ext cx="2605320" cy="450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3"/>
          <p:cNvSpPr/>
          <p:nvPr/>
        </p:nvSpPr>
        <p:spPr>
          <a:xfrm>
            <a:off x="3127320" y="2898720"/>
            <a:ext cx="26053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🔁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4"/>
          <p:cNvSpPr/>
          <p:nvPr/>
        </p:nvSpPr>
        <p:spPr>
          <a:xfrm>
            <a:off x="3127320" y="3291840"/>
            <a:ext cx="2605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Duplicados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5"/>
          <p:cNvSpPr/>
          <p:nvPr/>
        </p:nvSpPr>
        <p:spPr>
          <a:xfrm>
            <a:off x="3127320" y="3566160"/>
            <a:ext cx="2605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Mismo producto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registrado varias veces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6"/>
          <p:cNvSpPr/>
          <p:nvPr/>
        </p:nvSpPr>
        <p:spPr>
          <a:xfrm>
            <a:off x="5888880" y="2788920"/>
            <a:ext cx="2605320" cy="1325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e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7"/>
          <p:cNvSpPr/>
          <p:nvPr/>
        </p:nvSpPr>
        <p:spPr>
          <a:xfrm>
            <a:off x="5888880" y="2788920"/>
            <a:ext cx="2605320" cy="450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8"/>
          <p:cNvSpPr/>
          <p:nvPr/>
        </p:nvSpPr>
        <p:spPr>
          <a:xfrm>
            <a:off x="5888880" y="2898720"/>
            <a:ext cx="26053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🌐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9"/>
          <p:cNvSpPr/>
          <p:nvPr/>
        </p:nvSpPr>
        <p:spPr>
          <a:xfrm>
            <a:off x="5888880" y="3291840"/>
            <a:ext cx="2605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Inconsistentes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0"/>
          <p:cNvSpPr/>
          <p:nvPr/>
        </p:nvSpPr>
        <p:spPr>
          <a:xfrm>
            <a:off x="5888880" y="3566160"/>
            <a:ext cx="2605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Categorías y países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en idiomas mezclados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365760" y="274320"/>
            <a:ext cx="8503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La Solución — Pipeline de 4 Fases</a:t>
            </a:r>
            <a:endParaRPr lang="es-CO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"/>
          <p:cNvSpPr/>
          <p:nvPr/>
        </p:nvSpPr>
        <p:spPr>
          <a:xfrm>
            <a:off x="365760" y="868680"/>
            <a:ext cx="8503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Pipeline automatizado en Python · datos crudos → catálogo evaluado, segmentado y clasificable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"/>
          <p:cNvSpPr/>
          <p:nvPr/>
        </p:nvSpPr>
        <p:spPr>
          <a:xfrm>
            <a:off x="365760" y="1371600"/>
            <a:ext cx="2010960" cy="233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4"/>
          <p:cNvSpPr/>
          <p:nvPr/>
        </p:nvSpPr>
        <p:spPr>
          <a:xfrm>
            <a:off x="365760" y="1371600"/>
            <a:ext cx="2010960" cy="5022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5"/>
          <p:cNvSpPr/>
          <p:nvPr/>
        </p:nvSpPr>
        <p:spPr>
          <a:xfrm>
            <a:off x="365760" y="1371600"/>
            <a:ext cx="2010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6"/>
          <p:cNvSpPr/>
          <p:nvPr/>
        </p:nvSpPr>
        <p:spPr>
          <a:xfrm>
            <a:off x="365760" y="190188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01_ingestion_ETL.i 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7"/>
          <p:cNvSpPr/>
          <p:nvPr/>
        </p:nvSpPr>
        <p:spPr>
          <a:xfrm>
            <a:off x="365760" y="221292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Ingesta + ETL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8"/>
          <p:cNvSpPr/>
          <p:nvPr/>
        </p:nvSpPr>
        <p:spPr>
          <a:xfrm>
            <a:off x="457200" y="2688480"/>
            <a:ext cx="18280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Descarga 50.000 productos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vía API en 10 lotes → SQLite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9"/>
          <p:cNvSpPr/>
          <p:nvPr/>
        </p:nvSpPr>
        <p:spPr>
          <a:xfrm>
            <a:off x="2496240" y="1371600"/>
            <a:ext cx="2010960" cy="233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0"/>
          <p:cNvSpPr/>
          <p:nvPr/>
        </p:nvSpPr>
        <p:spPr>
          <a:xfrm>
            <a:off x="2496240" y="1371600"/>
            <a:ext cx="2010960" cy="50220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1"/>
          <p:cNvSpPr/>
          <p:nvPr/>
        </p:nvSpPr>
        <p:spPr>
          <a:xfrm>
            <a:off x="2496240" y="1371600"/>
            <a:ext cx="2010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II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2"/>
          <p:cNvSpPr/>
          <p:nvPr/>
        </p:nvSpPr>
        <p:spPr>
          <a:xfrm>
            <a:off x="2496240" y="190188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02_data_qa_layer.ipynb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3"/>
          <p:cNvSpPr/>
          <p:nvPr/>
        </p:nvSpPr>
        <p:spPr>
          <a:xfrm>
            <a:off x="2496240" y="221292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Data Quality Layer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4"/>
          <p:cNvSpPr/>
          <p:nvPr/>
        </p:nvSpPr>
        <p:spPr>
          <a:xfrm>
            <a:off x="2587680" y="2688480"/>
            <a:ext cx="18280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20 métricas por producto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product_quality_score 0.0–1.0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5"/>
          <p:cNvSpPr/>
          <p:nvPr/>
        </p:nvSpPr>
        <p:spPr>
          <a:xfrm>
            <a:off x="4626720" y="1371600"/>
            <a:ext cx="2010960" cy="233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6"/>
          <p:cNvSpPr/>
          <p:nvPr/>
        </p:nvSpPr>
        <p:spPr>
          <a:xfrm>
            <a:off x="4626720" y="1371600"/>
            <a:ext cx="2010960" cy="502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7"/>
          <p:cNvSpPr/>
          <p:nvPr/>
        </p:nvSpPr>
        <p:spPr>
          <a:xfrm>
            <a:off x="4626720" y="1371600"/>
            <a:ext cx="2010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III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8"/>
          <p:cNvSpPr/>
          <p:nvPr/>
        </p:nvSpPr>
        <p:spPr>
          <a:xfrm>
            <a:off x="4626720" y="190188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03_eda.ipynb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9"/>
          <p:cNvSpPr/>
          <p:nvPr/>
        </p:nvSpPr>
        <p:spPr>
          <a:xfrm>
            <a:off x="4626720" y="221292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EDA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0"/>
          <p:cNvSpPr/>
          <p:nvPr/>
        </p:nvSpPr>
        <p:spPr>
          <a:xfrm>
            <a:off x="4718160" y="2688480"/>
            <a:ext cx="18280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Distribuciones, correlaciones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y perfiles por marca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1"/>
          <p:cNvSpPr/>
          <p:nvPr/>
        </p:nvSpPr>
        <p:spPr>
          <a:xfrm>
            <a:off x="6757560" y="1371600"/>
            <a:ext cx="2010960" cy="233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2"/>
          <p:cNvSpPr/>
          <p:nvPr/>
        </p:nvSpPr>
        <p:spPr>
          <a:xfrm>
            <a:off x="6757560" y="1371600"/>
            <a:ext cx="2010960" cy="5022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3"/>
          <p:cNvSpPr/>
          <p:nvPr/>
        </p:nvSpPr>
        <p:spPr>
          <a:xfrm>
            <a:off x="6757560" y="1371600"/>
            <a:ext cx="2010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IV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"/>
          <p:cNvSpPr/>
          <p:nvPr/>
        </p:nvSpPr>
        <p:spPr>
          <a:xfrm>
            <a:off x="6757560" y="190188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04_cluster_ml.ipynb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5"/>
          <p:cNvSpPr/>
          <p:nvPr/>
        </p:nvSpPr>
        <p:spPr>
          <a:xfrm>
            <a:off x="6757560" y="2212920"/>
            <a:ext cx="2010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Clustering + Clasificador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6"/>
          <p:cNvSpPr/>
          <p:nvPr/>
        </p:nvSpPr>
        <p:spPr>
          <a:xfrm>
            <a:off x="6849000" y="2688480"/>
            <a:ext cx="18280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KMeans k=5 · Random Forest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para clasificar nuevos productos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365760" y="2559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Product Quality Score</a:t>
            </a:r>
            <a:endParaRPr lang="es-CO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365760" y="822960"/>
            <a:ext cx="85032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Un número entre 0.0 y 1.0 por producto — construido en 3 dimensiones ponderadas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3"/>
          <p:cNvSpPr/>
          <p:nvPr/>
        </p:nvSpPr>
        <p:spPr>
          <a:xfrm>
            <a:off x="365760" y="1188720"/>
            <a:ext cx="2605320" cy="141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4"/>
          <p:cNvSpPr/>
          <p:nvPr/>
        </p:nvSpPr>
        <p:spPr>
          <a:xfrm>
            <a:off x="365760" y="1188720"/>
            <a:ext cx="2605320" cy="4381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365760" y="1188720"/>
            <a:ext cx="26053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50%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457200" y="166428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Completitud crítica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7"/>
          <p:cNvSpPr/>
          <p:nvPr/>
        </p:nvSpPr>
        <p:spPr>
          <a:xfrm>
            <a:off x="457200" y="2011680"/>
            <a:ext cx="2422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¿Están los 4 campos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clave rellenos?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8"/>
          <p:cNvSpPr/>
          <p:nvPr/>
        </p:nvSpPr>
        <p:spPr>
          <a:xfrm>
            <a:off x="3136320" y="1188720"/>
            <a:ext cx="2605320" cy="141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9"/>
          <p:cNvSpPr/>
          <p:nvPr/>
        </p:nvSpPr>
        <p:spPr>
          <a:xfrm>
            <a:off x="3136320" y="1188720"/>
            <a:ext cx="2605320" cy="43812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3136320" y="1188720"/>
            <a:ext cx="26053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35%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3227760" y="166428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Calidad ingredientes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2"/>
          <p:cNvSpPr/>
          <p:nvPr/>
        </p:nvSpPr>
        <p:spPr>
          <a:xfrm>
            <a:off x="3227760" y="2011680"/>
            <a:ext cx="2422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Proporción de ingredientes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reconocidos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3"/>
          <p:cNvSpPr/>
          <p:nvPr/>
        </p:nvSpPr>
        <p:spPr>
          <a:xfrm>
            <a:off x="5906880" y="1188720"/>
            <a:ext cx="2605320" cy="141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4"/>
          <p:cNvSpPr/>
          <p:nvPr/>
        </p:nvSpPr>
        <p:spPr>
          <a:xfrm>
            <a:off x="5906880" y="1188720"/>
            <a:ext cx="2605320" cy="438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5"/>
          <p:cNvSpPr/>
          <p:nvPr/>
        </p:nvSpPr>
        <p:spPr>
          <a:xfrm>
            <a:off x="5906880" y="1188720"/>
            <a:ext cx="26053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15%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6"/>
          <p:cNvSpPr/>
          <p:nvPr/>
        </p:nvSpPr>
        <p:spPr>
          <a:xfrm>
            <a:off x="5998320" y="1664280"/>
            <a:ext cx="2422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General + Taxonomía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7"/>
          <p:cNvSpPr/>
          <p:nvPr/>
        </p:nvSpPr>
        <p:spPr>
          <a:xfrm>
            <a:off x="5998320" y="2011680"/>
            <a:ext cx="24224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Completitud general +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consistencia idioma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8"/>
          <p:cNvSpPr/>
          <p:nvPr/>
        </p:nvSpPr>
        <p:spPr>
          <a:xfrm>
            <a:off x="365760" y="2606040"/>
            <a:ext cx="8411760" cy="1005120"/>
          </a:xfrm>
          <a:prstGeom prst="rect">
            <a:avLst/>
          </a:prstGeom>
          <a:solidFill>
            <a:srgbClr val="2d1b36"/>
          </a:solidFill>
          <a:ln w="12700">
            <a:solidFill>
              <a:srgbClr val="2d1b3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9"/>
          <p:cNvSpPr/>
          <p:nvPr/>
        </p:nvSpPr>
        <p:spPr>
          <a:xfrm>
            <a:off x="548640" y="2651760"/>
            <a:ext cx="1096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a26769"/>
                </a:solidFill>
                <a:effectLst/>
                <a:uFillTx/>
                <a:latin typeface="Calibri"/>
                <a:ea typeface="Calibri"/>
              </a:rPr>
              <a:t>Fórmula: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0"/>
          <p:cNvSpPr/>
          <p:nvPr/>
        </p:nvSpPr>
        <p:spPr>
          <a:xfrm>
            <a:off x="548640" y="2999160"/>
            <a:ext cx="8046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compl_critical_ratio × 0.50  +  ingredients_quality_score × 0.35  +  (copleteness + taxonomy) × 0.15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1"/>
          <p:cNvSpPr/>
          <p:nvPr/>
        </p:nvSpPr>
        <p:spPr>
          <a:xfrm>
            <a:off x="1737360" y="2651760"/>
            <a:ext cx="6857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b7a8a"/>
                </a:solidFill>
                <a:effectLst/>
                <a:uFillTx/>
                <a:latin typeface="Consolas"/>
                <a:ea typeface="Consolas"/>
              </a:rPr>
              <a:t>Si  dupl icado → score = 0.0   ·   Sin Ingredientes → score = -1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2"/>
          <p:cNvSpPr/>
          <p:nvPr/>
        </p:nvSpPr>
        <p:spPr>
          <a:xfrm>
            <a:off x="365760" y="3749040"/>
            <a:ext cx="8411760" cy="547920"/>
          </a:xfrm>
          <a:prstGeom prst="rect">
            <a:avLst/>
          </a:prstGeom>
          <a:solidFill>
            <a:srgbClr val="fff3f5"/>
          </a:solidFill>
          <a:ln w="12700">
            <a:solidFill>
              <a:srgbClr val="e8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3"/>
          <p:cNvSpPr/>
          <p:nvPr/>
        </p:nvSpPr>
        <p:spPr>
          <a:xfrm>
            <a:off x="457200" y="37490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d2e46"/>
                </a:solidFill>
                <a:effectLst/>
                <a:uFillTx/>
                <a:latin typeface="Calibri"/>
                <a:ea typeface="Calibri"/>
              </a:rPr>
              <a:t>⚠️  Un duplicado o la ausencia total de ingredientes invalida el score independientemente del resto de dimensiones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19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2"/>
          <p:cNvSpPr/>
          <p:nvPr/>
        </p:nvSpPr>
        <p:spPr>
          <a:xfrm>
            <a:off x="365760" y="182880"/>
            <a:ext cx="850320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¿Por qué k=5?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9"/>
          <p:cNvSpPr/>
          <p:nvPr/>
        </p:nvSpPr>
        <p:spPr>
          <a:xfrm>
            <a:off x="365760" y="713160"/>
            <a:ext cx="8503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Se evaluaron k=2 a k=10 con tres métricas de validación interna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determinacion_cluster.jpg"/>
          <p:cNvPicPr/>
          <p:nvPr/>
        </p:nvPicPr>
        <p:blipFill>
          <a:blip r:embed="rId1"/>
          <a:stretch/>
        </p:blipFill>
        <p:spPr>
          <a:xfrm>
            <a:off x="365760" y="1078920"/>
            <a:ext cx="8411760" cy="217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Shape 20"/>
          <p:cNvSpPr/>
          <p:nvPr/>
        </p:nvSpPr>
        <p:spPr>
          <a:xfrm>
            <a:off x="365760" y="3401640"/>
            <a:ext cx="2651040" cy="141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34"/>
          <p:cNvSpPr/>
          <p:nvPr/>
        </p:nvSpPr>
        <p:spPr>
          <a:xfrm>
            <a:off x="365760" y="3401640"/>
            <a:ext cx="2651040" cy="54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40"/>
          <p:cNvSpPr/>
          <p:nvPr/>
        </p:nvSpPr>
        <p:spPr>
          <a:xfrm>
            <a:off x="475560" y="3511440"/>
            <a:ext cx="2431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Elbow (Inercia)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1"/>
          <p:cNvSpPr/>
          <p:nvPr/>
        </p:nvSpPr>
        <p:spPr>
          <a:xfrm>
            <a:off x="475560" y="3840480"/>
            <a:ext cx="243144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La curva se aplana a partir de k=5 — más clusters no aportan ganancia significativa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35"/>
          <p:cNvSpPr/>
          <p:nvPr/>
        </p:nvSpPr>
        <p:spPr>
          <a:xfrm>
            <a:off x="3154680" y="3401640"/>
            <a:ext cx="2651040" cy="141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36"/>
          <p:cNvSpPr/>
          <p:nvPr/>
        </p:nvSpPr>
        <p:spPr>
          <a:xfrm>
            <a:off x="3154680" y="3401640"/>
            <a:ext cx="2651040" cy="5400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2"/>
          <p:cNvSpPr/>
          <p:nvPr/>
        </p:nvSpPr>
        <p:spPr>
          <a:xfrm>
            <a:off x="3264480" y="3511440"/>
            <a:ext cx="2431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a26769"/>
                </a:solidFill>
                <a:effectLst/>
                <a:uFillTx/>
                <a:latin typeface="Calibri"/>
                <a:ea typeface="Calibri"/>
              </a:rPr>
              <a:t>Silhouette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3"/>
          <p:cNvSpPr/>
          <p:nvPr/>
        </p:nvSpPr>
        <p:spPr>
          <a:xfrm>
            <a:off x="3264480" y="3840480"/>
            <a:ext cx="243144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Máximo en k=2, pero k=5 mantiene un valor razonable con mayor interpretabilidad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37"/>
          <p:cNvSpPr/>
          <p:nvPr/>
        </p:nvSpPr>
        <p:spPr>
          <a:xfrm>
            <a:off x="5943600" y="3401640"/>
            <a:ext cx="2651040" cy="141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8"/>
          <p:cNvSpPr/>
          <p:nvPr/>
        </p:nvSpPr>
        <p:spPr>
          <a:xfrm>
            <a:off x="5943600" y="3401640"/>
            <a:ext cx="2651040" cy="540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4"/>
          <p:cNvSpPr/>
          <p:nvPr/>
        </p:nvSpPr>
        <p:spPr>
          <a:xfrm>
            <a:off x="6053400" y="3511440"/>
            <a:ext cx="24314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Davies-Bouldin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5"/>
          <p:cNvSpPr/>
          <p:nvPr/>
        </p:nvSpPr>
        <p:spPr>
          <a:xfrm>
            <a:off x="6053400" y="3840480"/>
            <a:ext cx="243144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Mínimo en k=5 — los clusters están bien separados y son compactos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23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7"/>
          <p:cNvSpPr/>
          <p:nvPr/>
        </p:nvSpPr>
        <p:spPr>
          <a:xfrm>
            <a:off x="365760" y="182880"/>
            <a:ext cx="850320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Resultados — 5 Segmentos de Calidad</a:t>
            </a:r>
            <a:endParaRPr lang="es-C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8"/>
          <p:cNvSpPr/>
          <p:nvPr/>
        </p:nvSpPr>
        <p:spPr>
          <a:xfrm>
            <a:off x="365760" y="713160"/>
            <a:ext cx="8503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KMeans k=5 · PCA — 54.7% varianza explicada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4"/>
          <p:cNvSpPr/>
          <p:nvPr/>
        </p:nvSpPr>
        <p:spPr>
          <a:xfrm>
            <a:off x="365760" y="1051560"/>
            <a:ext cx="2873880" cy="712440"/>
          </a:xfrm>
          <a:prstGeom prst="rect">
            <a:avLst/>
          </a:prstGeom>
          <a:solidFill>
            <a:srgbClr val="eaf4ea"/>
          </a:solidFill>
          <a:ln w="12700">
            <a:solidFill>
              <a:srgbClr val="2c5f2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5"/>
          <p:cNvSpPr/>
          <p:nvPr/>
        </p:nvSpPr>
        <p:spPr>
          <a:xfrm>
            <a:off x="365760" y="1051560"/>
            <a:ext cx="63360" cy="7124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9"/>
          <p:cNvSpPr/>
          <p:nvPr/>
        </p:nvSpPr>
        <p:spPr>
          <a:xfrm>
            <a:off x="548640" y="1097280"/>
            <a:ext cx="37483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🟢  Bien documentados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548640" y="1417320"/>
            <a:ext cx="3748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Score alto · datos completos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6"/>
          <p:cNvSpPr/>
          <p:nvPr/>
        </p:nvSpPr>
        <p:spPr>
          <a:xfrm>
            <a:off x="365760" y="1856160"/>
            <a:ext cx="2873880" cy="712440"/>
          </a:xfrm>
          <a:prstGeom prst="rect">
            <a:avLst/>
          </a:prstGeom>
          <a:solidFill>
            <a:srgbClr val="faecea"/>
          </a:solidFill>
          <a:ln w="12700">
            <a:solidFill>
              <a:srgbClr val="b8504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7"/>
          <p:cNvSpPr/>
          <p:nvPr/>
        </p:nvSpPr>
        <p:spPr>
          <a:xfrm>
            <a:off x="365760" y="1856160"/>
            <a:ext cx="63360" cy="7124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1"/>
          <p:cNvSpPr/>
          <p:nvPr/>
        </p:nvSpPr>
        <p:spPr>
          <a:xfrm>
            <a:off x="548640" y="1901880"/>
            <a:ext cx="37483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b85042"/>
                </a:solidFill>
                <a:effectLst/>
                <a:uFillTx/>
                <a:latin typeface="Calibri"/>
                <a:ea typeface="Calibri"/>
              </a:rPr>
              <a:t>🔴  Incompletos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2"/>
          <p:cNvSpPr/>
          <p:nvPr/>
        </p:nvSpPr>
        <p:spPr>
          <a:xfrm>
            <a:off x="548640" y="2221920"/>
            <a:ext cx="3748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Sin categoría · sin país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8"/>
          <p:cNvSpPr/>
          <p:nvPr/>
        </p:nvSpPr>
        <p:spPr>
          <a:xfrm>
            <a:off x="365760" y="2660760"/>
            <a:ext cx="2873880" cy="712440"/>
          </a:xfrm>
          <a:prstGeom prst="rect">
            <a:avLst/>
          </a:prstGeom>
          <a:solidFill>
            <a:srgbClr val="eaf1fb"/>
          </a:solidFill>
          <a:ln w="12700">
            <a:solidFill>
              <a:srgbClr val="3a6fa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9"/>
          <p:cNvSpPr/>
          <p:nvPr/>
        </p:nvSpPr>
        <p:spPr>
          <a:xfrm>
            <a:off x="365760" y="2660760"/>
            <a:ext cx="63360" cy="712440"/>
          </a:xfrm>
          <a:prstGeom prst="rect">
            <a:avLst/>
          </a:prstGeom>
          <a:solidFill>
            <a:srgbClr val="3a6fa8"/>
          </a:solidFill>
          <a:ln w="12700">
            <a:solidFill>
              <a:srgbClr val="3a6f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3"/>
          <p:cNvSpPr/>
          <p:nvPr/>
        </p:nvSpPr>
        <p:spPr>
          <a:xfrm>
            <a:off x="548640" y="2706480"/>
            <a:ext cx="37483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3a6fa8"/>
                </a:solidFill>
                <a:effectLst/>
                <a:uFillTx/>
                <a:latin typeface="Calibri"/>
                <a:ea typeface="Calibri"/>
              </a:rPr>
              <a:t>🔵  Calidad mediocre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4"/>
          <p:cNvSpPr/>
          <p:nvPr/>
        </p:nvSpPr>
        <p:spPr>
          <a:xfrm>
            <a:off x="548640" y="3026520"/>
            <a:ext cx="3748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Datos parciales · ingredientes con problemas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0"/>
          <p:cNvSpPr/>
          <p:nvPr/>
        </p:nvSpPr>
        <p:spPr>
          <a:xfrm>
            <a:off x="365760" y="3465720"/>
            <a:ext cx="2873880" cy="712440"/>
          </a:xfrm>
          <a:prstGeom prst="rect">
            <a:avLst/>
          </a:prstGeom>
          <a:solidFill>
            <a:srgbClr val="fef0e3"/>
          </a:solidFill>
          <a:ln w="12700">
            <a:solidFill>
              <a:srgbClr val="c47a2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31"/>
          <p:cNvSpPr/>
          <p:nvPr/>
        </p:nvSpPr>
        <p:spPr>
          <a:xfrm>
            <a:off x="365760" y="3465720"/>
            <a:ext cx="63360" cy="712440"/>
          </a:xfrm>
          <a:prstGeom prst="rect">
            <a:avLst/>
          </a:prstGeom>
          <a:solidFill>
            <a:srgbClr val="c47a2b"/>
          </a:solidFill>
          <a:ln w="12700">
            <a:solidFill>
              <a:srgbClr val="c47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5"/>
          <p:cNvSpPr/>
          <p:nvPr/>
        </p:nvSpPr>
        <p:spPr>
          <a:xfrm>
            <a:off x="548640" y="3511440"/>
            <a:ext cx="37483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c47a2b"/>
                </a:solidFill>
                <a:effectLst/>
                <a:uFillTx/>
                <a:latin typeface="Calibri"/>
                <a:ea typeface="Calibri"/>
              </a:rPr>
              <a:t>🟠  Populares / duplicados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6"/>
          <p:cNvSpPr/>
          <p:nvPr/>
        </p:nvSpPr>
        <p:spPr>
          <a:xfrm>
            <a:off x="548640" y="3831480"/>
            <a:ext cx="3748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Alto engagement · nombres repetidos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2"/>
          <p:cNvSpPr/>
          <p:nvPr/>
        </p:nvSpPr>
        <p:spPr>
          <a:xfrm>
            <a:off x="365760" y="4270320"/>
            <a:ext cx="2873880" cy="712440"/>
          </a:xfrm>
          <a:prstGeom prst="rect">
            <a:avLst/>
          </a:prstGeom>
          <a:solidFill>
            <a:srgbClr val="f9eef2"/>
          </a:solidFill>
          <a:ln w="12700">
            <a:solidFill>
              <a:srgbClr val="6d2e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33"/>
          <p:cNvSpPr/>
          <p:nvPr/>
        </p:nvSpPr>
        <p:spPr>
          <a:xfrm>
            <a:off x="365760" y="4270320"/>
            <a:ext cx="63360" cy="7124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7"/>
          <p:cNvSpPr/>
          <p:nvPr/>
        </p:nvSpPr>
        <p:spPr>
          <a:xfrm>
            <a:off x="548640" y="4316040"/>
            <a:ext cx="374832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6d2e46"/>
                </a:solidFill>
                <a:effectLst/>
                <a:uFillTx/>
                <a:latin typeface="Calibri"/>
                <a:ea typeface="Calibri"/>
              </a:rPr>
              <a:t>🟣  Sin categorizar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8"/>
          <p:cNvSpPr/>
          <p:nvPr/>
        </p:nvSpPr>
        <p:spPr>
          <a:xfrm>
            <a:off x="548640" y="4636080"/>
            <a:ext cx="3748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Sin taxonomía · datos mínimos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Image 2" descr="/home/claude/cluster_resultante.jpg"/>
          <p:cNvPicPr/>
          <p:nvPr/>
        </p:nvPicPr>
        <p:blipFill>
          <a:blip r:embed="rId1"/>
          <a:stretch/>
        </p:blipFill>
        <p:spPr>
          <a:xfrm>
            <a:off x="3600000" y="865440"/>
            <a:ext cx="4571640" cy="4174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0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365760" y="255960"/>
            <a:ext cx="85032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Conclusiones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"/>
          <p:cNvSpPr/>
          <p:nvPr/>
        </p:nvSpPr>
        <p:spPr>
          <a:xfrm>
            <a:off x="365760" y="1051560"/>
            <a:ext cx="1370880" cy="10051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365760" y="1051560"/>
            <a:ext cx="13708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70.9%</a:t>
            </a:r>
            <a:endParaRPr lang="es-C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365760" y="1710000"/>
            <a:ext cx="1370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 evaluable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1920240" y="1188720"/>
            <a:ext cx="68572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35.474 de 50.000 productos recibieron score -1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por ausencia total de ingredientes declarados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6"/>
          <p:cNvSpPr/>
          <p:nvPr/>
        </p:nvSpPr>
        <p:spPr>
          <a:xfrm>
            <a:off x="365760" y="2286000"/>
            <a:ext cx="1370880" cy="1005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365760" y="2286000"/>
            <a:ext cx="13708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s-CO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8"/>
          <p:cNvSpPr/>
          <p:nvPr/>
        </p:nvSpPr>
        <p:spPr>
          <a:xfrm>
            <a:off x="365760" y="2944440"/>
            <a:ext cx="1370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segmentos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9"/>
          <p:cNvSpPr/>
          <p:nvPr/>
        </p:nvSpPr>
        <p:spPr>
          <a:xfrm>
            <a:off x="1920240" y="2423160"/>
            <a:ext cx="68572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El clustering confirmó que el catálogo no es homogéneo —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hay perfiles muy distintos sin distinción visible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0"/>
          <p:cNvSpPr/>
          <p:nvPr/>
        </p:nvSpPr>
        <p:spPr>
          <a:xfrm>
            <a:off x="365760" y="3520440"/>
            <a:ext cx="1370880" cy="100512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1"/>
          <p:cNvSpPr/>
          <p:nvPr/>
        </p:nvSpPr>
        <p:spPr>
          <a:xfrm>
            <a:off x="365760" y="3520440"/>
            <a:ext cx="13708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♻️</a:t>
            </a:r>
            <a:endParaRPr lang="es-CO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2"/>
          <p:cNvSpPr/>
          <p:nvPr/>
        </p:nvSpPr>
        <p:spPr>
          <a:xfrm>
            <a:off x="365760" y="4178880"/>
            <a:ext cx="1370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reutilizable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1920240" y="3657600"/>
            <a:ext cx="68572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El Random Forest clasifica nuevos productos automáticamente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nueva descarga → mismo análisis reproducible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"/>
          <p:cNvSpPr/>
          <p:nvPr/>
        </p:nvSpPr>
        <p:spPr>
          <a:xfrm>
            <a:off x="164520" y="0"/>
            <a:ext cx="54000" cy="51429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2"/>
          <p:cNvSpPr/>
          <p:nvPr/>
        </p:nvSpPr>
        <p:spPr>
          <a:xfrm>
            <a:off x="548640" y="1005840"/>
            <a:ext cx="8228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Sí es posible saber qué productos son fiables.</a:t>
            </a:r>
            <a:endParaRPr lang="es-CO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"/>
          <p:cNvSpPr/>
          <p:nvPr/>
        </p:nvSpPr>
        <p:spPr>
          <a:xfrm>
            <a:off x="548640" y="2057400"/>
            <a:ext cx="822888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Asignando un product_quality_score a cada registro y segmentando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el catálogo en 5 grupos diferenciados, se puede filtrar y decidir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qué datos son usables — antes de que contaminen cualquier análisis.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"/>
          <p:cNvSpPr/>
          <p:nvPr/>
        </p:nvSpPr>
        <p:spPr>
          <a:xfrm>
            <a:off x="548640" y="3401280"/>
            <a:ext cx="4114800" cy="360"/>
          </a:xfrm>
          <a:prstGeom prst="line">
            <a:avLst/>
          </a:prstGeom>
          <a:ln w="1905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5"/>
          <p:cNvSpPr/>
          <p:nvPr/>
        </p:nvSpPr>
        <p:spPr>
          <a:xfrm>
            <a:off x="548640" y="35661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a26769"/>
                </a:solidFill>
                <a:effectLst/>
                <a:uFillTx/>
                <a:latin typeface="Calibri"/>
                <a:ea typeface="Calibri"/>
              </a:rPr>
              <a:t>github.com/MayeLabs/anban_explorador_data</a:t>
            </a:r>
            <a:endParaRPr lang="es-CO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6"/>
          <p:cNvSpPr/>
          <p:nvPr/>
        </p:nvSpPr>
        <p:spPr>
          <a:xfrm>
            <a:off x="548640" y="3977640"/>
            <a:ext cx="8228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a6070"/>
                </a:solidFill>
                <a:effectLst/>
                <a:uFillTx/>
                <a:latin typeface="Calibri"/>
                <a:ea typeface="Calibri"/>
              </a:rPr>
              <a:t>MayeLabs  ·  Bootcamp IA &amp; Data Science ANBAN 2026</a:t>
            </a:r>
            <a:endParaRPr lang="es-CO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LibreOffice/25.8.5.2$Linux_X86_64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2026-06-07T18:42:07Z</dcterms:created>
  <dc:creator>MayeLabs</dc:creator>
  <dc:description/>
  <dc:language>es-CO</dc:language>
  <cp:lastModifiedBy/>
  <dcterms:modified xsi:type="dcterms:W3CDTF">2026-06-07T14:29:57Z</dcterms:modified>
  <cp:revision>5</cp:revision>
  <dc:subject>PptxGenJS Presentation</dc:subject>
  <dc:title>Data Quality a Open Beauty Facts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