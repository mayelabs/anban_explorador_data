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notes </a:t>
            </a: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B61BDD-F815-4A2A-BCDB-B76E97476A28}" type="slidenum">
              <a:rPr lang="es-CO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s-CO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1059A2-23BB-46B8-BC9B-3657015A33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CD7145-4421-4FAF-BA9C-327D9D9A32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5843F8-D1E4-43B3-ABC4-99E923C98C3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6A0DDC4-2C29-4C05-BFD9-D312D13B3D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23B9B58-9779-425D-A397-0BD60142120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AA97C6-DD0C-4DA5-97D4-66F1E3F138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CA2530-8A14-4B2E-BE4E-88703D829B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6ADF8B-CB4C-4DB2-871F-4CC0CD0B09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161847-E341-4951-A24E-A232B90390F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s-CO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s-CO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s-CO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s-CO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CO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63440" cy="51426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64520" y="0"/>
            <a:ext cx="53640" cy="51426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640080" y="502920"/>
            <a:ext cx="2599200" cy="346320"/>
          </a:xfrm>
          <a:prstGeom prst="roundRect">
            <a:avLst>
              <a:gd name="adj" fmla="val 26316"/>
            </a:avLst>
          </a:prstGeom>
          <a:solidFill>
            <a:srgbClr val="6d2e46">
              <a:alpha val="60000"/>
            </a:srgbClr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40080" y="502920"/>
            <a:ext cx="255924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50" b="1" u="none" spc="150" strike="noStrike">
                <a:solidFill>
                  <a:srgbClr val="faf7f5"/>
                </a:solidFill>
                <a:effectLst/>
                <a:uFillTx/>
                <a:latin typeface="Calibri"/>
              </a:rPr>
              <a:t> BOOTCAMP IA &amp; DATA SCIENCE · ANBAN 2026</a:t>
            </a:r>
            <a:endParaRPr lang="es-CO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40080" y="10972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Data Quality</a:t>
            </a:r>
            <a:endParaRPr lang="es-CO" sz="5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640080" y="1920240"/>
            <a:ext cx="82285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0" u="none" strike="noStrike">
                <a:solidFill>
                  <a:srgbClr val="a26769"/>
                </a:solidFill>
                <a:effectLst/>
                <a:uFillTx/>
                <a:latin typeface="Georgia"/>
                <a:ea typeface="Georgia"/>
              </a:rPr>
              <a:t>a Open Beauty Facts</a:t>
            </a:r>
            <a:endParaRPr lang="es-CO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640080" y="2788920"/>
            <a:ext cx="68569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¿Cómo identificar qué productos tienen datos fiables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i="1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para su uso en análisis o modelos futuros?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640080" y="36118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640080" y="384048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b7a8a"/>
                </a:solidFill>
                <a:effectLst/>
                <a:uFillTx/>
                <a:latin typeface="Calibri"/>
                <a:ea typeface="Calibri"/>
              </a:rPr>
              <a:t>MayeLabs  ·  github.com/MayeLabs/anban_explorador_data</a:t>
            </a:r>
            <a:endParaRPr lang="es-CO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640080" y="420624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world.openbeautyfacts.org</a:t>
            </a:r>
            <a:endParaRPr lang="es-CO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"/>
          <p:cNvSpPr/>
          <p:nvPr/>
        </p:nvSpPr>
        <p:spPr>
          <a:xfrm>
            <a:off x="365760" y="274320"/>
            <a:ext cx="8502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El Problema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365760" y="1051560"/>
            <a:ext cx="84114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Open Beauty Facts es una plataforma colaborativa donde cualquier persona puede registrar productos cosméticos. Esa apertura es su mayor valor, pero también su mayor riesgo:</a:t>
            </a:r>
            <a:endParaRPr lang="es-CO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3"/>
          <p:cNvSpPr/>
          <p:nvPr/>
        </p:nvSpPr>
        <p:spPr>
          <a:xfrm>
            <a:off x="365760" y="1920240"/>
            <a:ext cx="8411400" cy="684720"/>
          </a:xfrm>
          <a:prstGeom prst="rect">
            <a:avLst/>
          </a:prstGeom>
          <a:solidFill>
            <a:srgbClr val="6d2e46">
              <a:alpha val="12000"/>
            </a:srgbClr>
          </a:solidFill>
          <a:ln w="1905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365760" y="1920240"/>
            <a:ext cx="53640" cy="6847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"/>
          <p:cNvSpPr/>
          <p:nvPr/>
        </p:nvSpPr>
        <p:spPr>
          <a:xfrm>
            <a:off x="548640" y="1920240"/>
            <a:ext cx="82285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i="1" u="none" strike="noStrike">
                <a:solidFill>
                  <a:srgbClr val="6d2e46"/>
                </a:solidFill>
                <a:effectLst/>
                <a:uFillTx/>
                <a:latin typeface="Georgia"/>
                <a:ea typeface="Georgia"/>
              </a:rPr>
              <a:t>Nadie verifica que los datos subidos sean fiables.</a:t>
            </a:r>
            <a:endParaRPr lang="es-CO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6"/>
          <p:cNvSpPr/>
          <p:nvPr/>
        </p:nvSpPr>
        <p:spPr>
          <a:xfrm>
            <a:off x="365760" y="2788920"/>
            <a:ext cx="2604960" cy="132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7"/>
          <p:cNvSpPr/>
          <p:nvPr/>
        </p:nvSpPr>
        <p:spPr>
          <a:xfrm>
            <a:off x="365760" y="2788920"/>
            <a:ext cx="2604960" cy="446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365760" y="2898720"/>
            <a:ext cx="26049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📋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9"/>
          <p:cNvSpPr/>
          <p:nvPr/>
        </p:nvSpPr>
        <p:spPr>
          <a:xfrm>
            <a:off x="365760" y="329184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Incompletos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365760" y="3566160"/>
            <a:ext cx="2604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Campos clave vacíos: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categoría, sin país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1"/>
          <p:cNvSpPr/>
          <p:nvPr/>
        </p:nvSpPr>
        <p:spPr>
          <a:xfrm>
            <a:off x="3127320" y="2788920"/>
            <a:ext cx="2604960" cy="132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2"/>
          <p:cNvSpPr/>
          <p:nvPr/>
        </p:nvSpPr>
        <p:spPr>
          <a:xfrm>
            <a:off x="3127320" y="2788920"/>
            <a:ext cx="2604960" cy="446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3"/>
          <p:cNvSpPr/>
          <p:nvPr/>
        </p:nvSpPr>
        <p:spPr>
          <a:xfrm>
            <a:off x="3127320" y="2898720"/>
            <a:ext cx="26049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🔁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4"/>
          <p:cNvSpPr/>
          <p:nvPr/>
        </p:nvSpPr>
        <p:spPr>
          <a:xfrm>
            <a:off x="3127320" y="329184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Duplicados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5"/>
          <p:cNvSpPr/>
          <p:nvPr/>
        </p:nvSpPr>
        <p:spPr>
          <a:xfrm>
            <a:off x="3127320" y="3566160"/>
            <a:ext cx="2604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Mismo producto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registrado varias veces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6"/>
          <p:cNvSpPr/>
          <p:nvPr/>
        </p:nvSpPr>
        <p:spPr>
          <a:xfrm>
            <a:off x="5888880" y="2788920"/>
            <a:ext cx="2604960" cy="132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e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7"/>
          <p:cNvSpPr/>
          <p:nvPr/>
        </p:nvSpPr>
        <p:spPr>
          <a:xfrm>
            <a:off x="5888880" y="2788920"/>
            <a:ext cx="2604960" cy="446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8"/>
          <p:cNvSpPr/>
          <p:nvPr/>
        </p:nvSpPr>
        <p:spPr>
          <a:xfrm>
            <a:off x="5888880" y="2898720"/>
            <a:ext cx="26049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🌐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9"/>
          <p:cNvSpPr/>
          <p:nvPr/>
        </p:nvSpPr>
        <p:spPr>
          <a:xfrm>
            <a:off x="5888880" y="329184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Inconsistentes</a:t>
            </a:r>
            <a:endParaRPr lang="es-CO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20"/>
          <p:cNvSpPr/>
          <p:nvPr/>
        </p:nvSpPr>
        <p:spPr>
          <a:xfrm>
            <a:off x="5888880" y="3566160"/>
            <a:ext cx="2604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Categorías y países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en idiomas mezclados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365760" y="274320"/>
            <a:ext cx="8502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La Solución — Pipeline de 4 Fases</a:t>
            </a:r>
            <a:endParaRPr lang="es-CO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365760" y="868680"/>
            <a:ext cx="85028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Pipeline automatizado en Python · datos crudos → catálogo evaluado, segmentado y clasificable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3"/>
          <p:cNvSpPr/>
          <p:nvPr/>
        </p:nvSpPr>
        <p:spPr>
          <a:xfrm>
            <a:off x="365760" y="1371600"/>
            <a:ext cx="2010600" cy="233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365760" y="1371600"/>
            <a:ext cx="2010600" cy="5018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5"/>
          <p:cNvSpPr/>
          <p:nvPr/>
        </p:nvSpPr>
        <p:spPr>
          <a:xfrm>
            <a:off x="365760" y="13716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365760" y="190188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01_ingestion_ETL.i 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365760" y="221292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Ingesta + ETL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457200" y="268848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Descarga 50.000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vía API en 10 lotes → SQLite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9"/>
          <p:cNvSpPr/>
          <p:nvPr/>
        </p:nvSpPr>
        <p:spPr>
          <a:xfrm>
            <a:off x="2496240" y="1371600"/>
            <a:ext cx="2010600" cy="233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0"/>
          <p:cNvSpPr/>
          <p:nvPr/>
        </p:nvSpPr>
        <p:spPr>
          <a:xfrm>
            <a:off x="2496240" y="1371600"/>
            <a:ext cx="2010600" cy="5018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1"/>
          <p:cNvSpPr/>
          <p:nvPr/>
        </p:nvSpPr>
        <p:spPr>
          <a:xfrm>
            <a:off x="2496240" y="13716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2"/>
          <p:cNvSpPr/>
          <p:nvPr/>
        </p:nvSpPr>
        <p:spPr>
          <a:xfrm>
            <a:off x="2496240" y="190188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02_data_qa_layer.ipynb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2496240" y="221292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Data Quality Layer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2587680" y="268848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20 métricas por producto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product_quality_score 0.0–1.0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5"/>
          <p:cNvSpPr/>
          <p:nvPr/>
        </p:nvSpPr>
        <p:spPr>
          <a:xfrm>
            <a:off x="4626720" y="1371600"/>
            <a:ext cx="2010600" cy="233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6"/>
          <p:cNvSpPr/>
          <p:nvPr/>
        </p:nvSpPr>
        <p:spPr>
          <a:xfrm>
            <a:off x="4626720" y="1371600"/>
            <a:ext cx="2010600" cy="501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7"/>
          <p:cNvSpPr/>
          <p:nvPr/>
        </p:nvSpPr>
        <p:spPr>
          <a:xfrm>
            <a:off x="4626720" y="13716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III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8"/>
          <p:cNvSpPr/>
          <p:nvPr/>
        </p:nvSpPr>
        <p:spPr>
          <a:xfrm>
            <a:off x="4626720" y="190188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03_eda.ipynb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9"/>
          <p:cNvSpPr/>
          <p:nvPr/>
        </p:nvSpPr>
        <p:spPr>
          <a:xfrm>
            <a:off x="4626720" y="221292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EDA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0"/>
          <p:cNvSpPr/>
          <p:nvPr/>
        </p:nvSpPr>
        <p:spPr>
          <a:xfrm>
            <a:off x="4718160" y="268848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Distribuciones, correlaciones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y perfiles por marca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1"/>
          <p:cNvSpPr/>
          <p:nvPr/>
        </p:nvSpPr>
        <p:spPr>
          <a:xfrm>
            <a:off x="6757560" y="1371600"/>
            <a:ext cx="2010600" cy="233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2"/>
          <p:cNvSpPr/>
          <p:nvPr/>
        </p:nvSpPr>
        <p:spPr>
          <a:xfrm>
            <a:off x="6757560" y="1371600"/>
            <a:ext cx="2010600" cy="5018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3"/>
          <p:cNvSpPr/>
          <p:nvPr/>
        </p:nvSpPr>
        <p:spPr>
          <a:xfrm>
            <a:off x="6757560" y="1371600"/>
            <a:ext cx="20106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IV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"/>
          <p:cNvSpPr/>
          <p:nvPr/>
        </p:nvSpPr>
        <p:spPr>
          <a:xfrm>
            <a:off x="6757560" y="1901880"/>
            <a:ext cx="20106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0" u="none" strike="noStrike">
                <a:solidFill>
                  <a:srgbClr val="6b6b6b"/>
                </a:solidFill>
                <a:effectLst/>
                <a:uFillTx/>
                <a:latin typeface="Consolas"/>
                <a:ea typeface="Consolas"/>
              </a:rPr>
              <a:t>04_cluster_ml.ipynb</a:t>
            </a:r>
            <a:endParaRPr lang="es-CO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6757560" y="2212920"/>
            <a:ext cx="20106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Clustering + Clasificador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6"/>
          <p:cNvSpPr/>
          <p:nvPr/>
        </p:nvSpPr>
        <p:spPr>
          <a:xfrm>
            <a:off x="6849000" y="2688480"/>
            <a:ext cx="1827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Random Forest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para clasificar nuevos productos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365760" y="255960"/>
            <a:ext cx="8502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Product Quality Score</a:t>
            </a:r>
            <a:endParaRPr lang="es-CO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365760" y="822960"/>
            <a:ext cx="85028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Un número entre 0.0 y 1.0 por producto — construido en 3 dimensiones ponderadas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3"/>
          <p:cNvSpPr/>
          <p:nvPr/>
        </p:nvSpPr>
        <p:spPr>
          <a:xfrm>
            <a:off x="365760" y="1188720"/>
            <a:ext cx="260496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4"/>
          <p:cNvSpPr/>
          <p:nvPr/>
        </p:nvSpPr>
        <p:spPr>
          <a:xfrm>
            <a:off x="365760" y="1188720"/>
            <a:ext cx="2604960" cy="4377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365760" y="118872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50%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457200" y="1664280"/>
            <a:ext cx="24220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Completitud crítica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457200" y="2011680"/>
            <a:ext cx="2422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¿Están los 4 campos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clave rellenos?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8"/>
          <p:cNvSpPr/>
          <p:nvPr/>
        </p:nvSpPr>
        <p:spPr>
          <a:xfrm>
            <a:off x="3136320" y="1188720"/>
            <a:ext cx="260496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9"/>
          <p:cNvSpPr/>
          <p:nvPr/>
        </p:nvSpPr>
        <p:spPr>
          <a:xfrm>
            <a:off x="3136320" y="1188720"/>
            <a:ext cx="2604960" cy="4377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3136320" y="118872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3227760" y="1664280"/>
            <a:ext cx="24220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Calidad ingredientes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2"/>
          <p:cNvSpPr/>
          <p:nvPr/>
        </p:nvSpPr>
        <p:spPr>
          <a:xfrm>
            <a:off x="3227760" y="2011680"/>
            <a:ext cx="2422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Proporción de ingredientes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reconocidos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3"/>
          <p:cNvSpPr/>
          <p:nvPr/>
        </p:nvSpPr>
        <p:spPr>
          <a:xfrm>
            <a:off x="5906880" y="1188720"/>
            <a:ext cx="260496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4"/>
          <p:cNvSpPr/>
          <p:nvPr/>
        </p:nvSpPr>
        <p:spPr>
          <a:xfrm>
            <a:off x="5906880" y="1188720"/>
            <a:ext cx="2604960" cy="437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5906880" y="1188720"/>
            <a:ext cx="2604960" cy="4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15%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5998320" y="1664280"/>
            <a:ext cx="24220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General + Taxonomía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5998320" y="2011680"/>
            <a:ext cx="2422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Completitud general +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consistencia idioma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8"/>
          <p:cNvSpPr/>
          <p:nvPr/>
        </p:nvSpPr>
        <p:spPr>
          <a:xfrm>
            <a:off x="365760" y="2606040"/>
            <a:ext cx="8411400" cy="1004760"/>
          </a:xfrm>
          <a:prstGeom prst="rect">
            <a:avLst/>
          </a:prstGeom>
          <a:solidFill>
            <a:srgbClr val="2d1b36"/>
          </a:solidFill>
          <a:ln w="12700">
            <a:solidFill>
              <a:srgbClr val="2d1b3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9"/>
          <p:cNvSpPr/>
          <p:nvPr/>
        </p:nvSpPr>
        <p:spPr>
          <a:xfrm>
            <a:off x="548640" y="2651760"/>
            <a:ext cx="109620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Fórmula: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0"/>
          <p:cNvSpPr/>
          <p:nvPr/>
        </p:nvSpPr>
        <p:spPr>
          <a:xfrm>
            <a:off x="548640" y="2999160"/>
            <a:ext cx="80456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compl_critical_ratio × 0.50  +  ingredients_quality_score × 0.35  +  (copleteness + taxonomy) × 0.15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1"/>
          <p:cNvSpPr/>
          <p:nvPr/>
        </p:nvSpPr>
        <p:spPr>
          <a:xfrm>
            <a:off x="1737360" y="2651760"/>
            <a:ext cx="68569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b7a8a"/>
                </a:solidFill>
                <a:effectLst/>
                <a:uFillTx/>
                <a:latin typeface="Consolas"/>
                <a:ea typeface="Consolas"/>
              </a:rPr>
              <a:t>Si  dupl icado → score = 0.0   ·   Sin Ingredientes → score = -1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2"/>
          <p:cNvSpPr/>
          <p:nvPr/>
        </p:nvSpPr>
        <p:spPr>
          <a:xfrm>
            <a:off x="365760" y="3749040"/>
            <a:ext cx="8411400" cy="547560"/>
          </a:xfrm>
          <a:prstGeom prst="rect">
            <a:avLst/>
          </a:prstGeom>
          <a:solidFill>
            <a:srgbClr val="fff3f5"/>
          </a:solidFill>
          <a:ln w="12700">
            <a:solidFill>
              <a:srgbClr val="e8d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23"/>
          <p:cNvSpPr/>
          <p:nvPr/>
        </p:nvSpPr>
        <p:spPr>
          <a:xfrm>
            <a:off x="457200" y="3749040"/>
            <a:ext cx="8228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⚠️  Un duplicado o la ausencia total de ingredientes invalida el score independientemente del resto de dimensiones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19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2"/>
          <p:cNvSpPr/>
          <p:nvPr/>
        </p:nvSpPr>
        <p:spPr>
          <a:xfrm>
            <a:off x="365760" y="182880"/>
            <a:ext cx="850284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¿Por qué k=5?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9"/>
          <p:cNvSpPr/>
          <p:nvPr/>
        </p:nvSpPr>
        <p:spPr>
          <a:xfrm>
            <a:off x="365760" y="713160"/>
            <a:ext cx="85028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Se evaluaron k=2 a k=10 con tres métricas de validación interna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determinacion_cluster.jpg"/>
          <p:cNvPicPr/>
          <p:nvPr/>
        </p:nvPicPr>
        <p:blipFill>
          <a:blip r:embed="rId1"/>
          <a:stretch/>
        </p:blipFill>
        <p:spPr>
          <a:xfrm>
            <a:off x="365760" y="1078920"/>
            <a:ext cx="8411400" cy="217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Shape 20"/>
          <p:cNvSpPr/>
          <p:nvPr/>
        </p:nvSpPr>
        <p:spPr>
          <a:xfrm>
            <a:off x="365760" y="3401640"/>
            <a:ext cx="265068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4"/>
          <p:cNvSpPr/>
          <p:nvPr/>
        </p:nvSpPr>
        <p:spPr>
          <a:xfrm>
            <a:off x="365760" y="3401640"/>
            <a:ext cx="2650680" cy="53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0"/>
          <p:cNvSpPr/>
          <p:nvPr/>
        </p:nvSpPr>
        <p:spPr>
          <a:xfrm>
            <a:off x="475560" y="3511440"/>
            <a:ext cx="2431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65a82"/>
                </a:solidFill>
                <a:effectLst/>
                <a:uFillTx/>
                <a:latin typeface="Calibri"/>
                <a:ea typeface="Calibri"/>
              </a:rPr>
              <a:t>Elbow (Inercia)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1"/>
          <p:cNvSpPr/>
          <p:nvPr/>
        </p:nvSpPr>
        <p:spPr>
          <a:xfrm>
            <a:off x="475560" y="3840480"/>
            <a:ext cx="2431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La curva se aplana a partir de k=5 — más clusters no aportan ganancia significativa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5"/>
          <p:cNvSpPr/>
          <p:nvPr/>
        </p:nvSpPr>
        <p:spPr>
          <a:xfrm>
            <a:off x="3154680" y="3401640"/>
            <a:ext cx="265068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6"/>
          <p:cNvSpPr/>
          <p:nvPr/>
        </p:nvSpPr>
        <p:spPr>
          <a:xfrm>
            <a:off x="3154680" y="3401640"/>
            <a:ext cx="2650680" cy="5364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2"/>
          <p:cNvSpPr/>
          <p:nvPr/>
        </p:nvSpPr>
        <p:spPr>
          <a:xfrm>
            <a:off x="3264480" y="3511440"/>
            <a:ext cx="2431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Silhouette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3"/>
          <p:cNvSpPr/>
          <p:nvPr/>
        </p:nvSpPr>
        <p:spPr>
          <a:xfrm>
            <a:off x="3264480" y="3840480"/>
            <a:ext cx="2431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Máximo en k=2, pero k=5 mantiene un valor razonable con mayor interpretabilidad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37"/>
          <p:cNvSpPr/>
          <p:nvPr/>
        </p:nvSpPr>
        <p:spPr>
          <a:xfrm>
            <a:off x="5943600" y="3401640"/>
            <a:ext cx="2650680" cy="141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8"/>
          <p:cNvSpPr/>
          <p:nvPr/>
        </p:nvSpPr>
        <p:spPr>
          <a:xfrm>
            <a:off x="5943600" y="3401640"/>
            <a:ext cx="2650680" cy="5364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4"/>
          <p:cNvSpPr/>
          <p:nvPr/>
        </p:nvSpPr>
        <p:spPr>
          <a:xfrm>
            <a:off x="6053400" y="3511440"/>
            <a:ext cx="2431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Davies-Bouldin</a:t>
            </a:r>
            <a:endParaRPr lang="es-CO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5"/>
          <p:cNvSpPr/>
          <p:nvPr/>
        </p:nvSpPr>
        <p:spPr>
          <a:xfrm>
            <a:off x="6053400" y="3840480"/>
            <a:ext cx="243108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Mínimo en k=5 — los clusters están bien separados y son compactos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23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"/>
          <p:cNvSpPr/>
          <p:nvPr/>
        </p:nvSpPr>
        <p:spPr>
          <a:xfrm>
            <a:off x="365760" y="182880"/>
            <a:ext cx="850284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8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Resultados — 5 Segmentos de Calidad</a:t>
            </a:r>
            <a:endParaRPr lang="es-CO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365760" y="713160"/>
            <a:ext cx="850284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KMeans k=5 · PCA — 54.7% varianza explicada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4"/>
          <p:cNvSpPr/>
          <p:nvPr/>
        </p:nvSpPr>
        <p:spPr>
          <a:xfrm>
            <a:off x="365760" y="1051560"/>
            <a:ext cx="2873520" cy="712080"/>
          </a:xfrm>
          <a:prstGeom prst="rect">
            <a:avLst/>
          </a:prstGeom>
          <a:solidFill>
            <a:srgbClr val="eaf4ea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5"/>
          <p:cNvSpPr/>
          <p:nvPr/>
        </p:nvSpPr>
        <p:spPr>
          <a:xfrm>
            <a:off x="365760" y="1051560"/>
            <a:ext cx="63000" cy="71208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548640" y="1097280"/>
            <a:ext cx="37479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2c5f2d"/>
                </a:solidFill>
                <a:effectLst/>
                <a:uFillTx/>
                <a:latin typeface="Calibri"/>
                <a:ea typeface="Calibri"/>
              </a:rPr>
              <a:t>🟢  Bien documentados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30"/>
          <p:cNvSpPr/>
          <p:nvPr/>
        </p:nvSpPr>
        <p:spPr>
          <a:xfrm>
            <a:off x="548640" y="1417320"/>
            <a:ext cx="3747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Score alto · datos completos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6"/>
          <p:cNvSpPr/>
          <p:nvPr/>
        </p:nvSpPr>
        <p:spPr>
          <a:xfrm>
            <a:off x="365760" y="1856160"/>
            <a:ext cx="2873520" cy="712080"/>
          </a:xfrm>
          <a:prstGeom prst="rect">
            <a:avLst/>
          </a:prstGeom>
          <a:solidFill>
            <a:srgbClr val="faecea"/>
          </a:solidFill>
          <a:ln w="12700">
            <a:solidFill>
              <a:srgbClr val="b85042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7"/>
          <p:cNvSpPr/>
          <p:nvPr/>
        </p:nvSpPr>
        <p:spPr>
          <a:xfrm>
            <a:off x="365760" y="1856160"/>
            <a:ext cx="63000" cy="7120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31"/>
          <p:cNvSpPr/>
          <p:nvPr/>
        </p:nvSpPr>
        <p:spPr>
          <a:xfrm>
            <a:off x="548640" y="1901880"/>
            <a:ext cx="37479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b85042"/>
                </a:solidFill>
                <a:effectLst/>
                <a:uFillTx/>
                <a:latin typeface="Calibri"/>
                <a:ea typeface="Calibri"/>
              </a:rPr>
              <a:t>🔴  Incompletos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2"/>
          <p:cNvSpPr/>
          <p:nvPr/>
        </p:nvSpPr>
        <p:spPr>
          <a:xfrm>
            <a:off x="548640" y="2221920"/>
            <a:ext cx="3747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categoría · sin país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8"/>
          <p:cNvSpPr/>
          <p:nvPr/>
        </p:nvSpPr>
        <p:spPr>
          <a:xfrm>
            <a:off x="365760" y="2660760"/>
            <a:ext cx="2873520" cy="712080"/>
          </a:xfrm>
          <a:prstGeom prst="rect">
            <a:avLst/>
          </a:prstGeom>
          <a:solidFill>
            <a:srgbClr val="eaf1fb"/>
          </a:solidFill>
          <a:ln w="12700">
            <a:solidFill>
              <a:srgbClr val="3a6fa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9"/>
          <p:cNvSpPr/>
          <p:nvPr/>
        </p:nvSpPr>
        <p:spPr>
          <a:xfrm>
            <a:off x="365760" y="2660760"/>
            <a:ext cx="63000" cy="712080"/>
          </a:xfrm>
          <a:prstGeom prst="rect">
            <a:avLst/>
          </a:prstGeom>
          <a:solidFill>
            <a:srgbClr val="3a6fa8"/>
          </a:solidFill>
          <a:ln w="12700">
            <a:solidFill>
              <a:srgbClr val="3a6f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3"/>
          <p:cNvSpPr/>
          <p:nvPr/>
        </p:nvSpPr>
        <p:spPr>
          <a:xfrm>
            <a:off x="548640" y="2706480"/>
            <a:ext cx="37479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3a6fa8"/>
                </a:solidFill>
                <a:effectLst/>
                <a:uFillTx/>
                <a:latin typeface="Calibri"/>
                <a:ea typeface="Calibri"/>
              </a:rPr>
              <a:t>🔵  Calidad mediocre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34"/>
          <p:cNvSpPr/>
          <p:nvPr/>
        </p:nvSpPr>
        <p:spPr>
          <a:xfrm>
            <a:off x="548640" y="3026520"/>
            <a:ext cx="3747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Datos parciales · ingredientes con problemas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30"/>
          <p:cNvSpPr/>
          <p:nvPr/>
        </p:nvSpPr>
        <p:spPr>
          <a:xfrm>
            <a:off x="365760" y="3465720"/>
            <a:ext cx="2873520" cy="712080"/>
          </a:xfrm>
          <a:prstGeom prst="rect">
            <a:avLst/>
          </a:prstGeom>
          <a:solidFill>
            <a:srgbClr val="fef0e3"/>
          </a:solidFill>
          <a:ln w="12700">
            <a:solidFill>
              <a:srgbClr val="c47a2b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31"/>
          <p:cNvSpPr/>
          <p:nvPr/>
        </p:nvSpPr>
        <p:spPr>
          <a:xfrm>
            <a:off x="365760" y="3465720"/>
            <a:ext cx="63000" cy="712080"/>
          </a:xfrm>
          <a:prstGeom prst="rect">
            <a:avLst/>
          </a:prstGeom>
          <a:solidFill>
            <a:srgbClr val="c47a2b"/>
          </a:solidFill>
          <a:ln w="12700">
            <a:solidFill>
              <a:srgbClr val="c47a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35"/>
          <p:cNvSpPr/>
          <p:nvPr/>
        </p:nvSpPr>
        <p:spPr>
          <a:xfrm>
            <a:off x="548640" y="3511440"/>
            <a:ext cx="37479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c47a2b"/>
                </a:solidFill>
                <a:effectLst/>
                <a:uFillTx/>
                <a:latin typeface="Calibri"/>
                <a:ea typeface="Calibri"/>
              </a:rPr>
              <a:t>🟠  Populares / duplicados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6"/>
          <p:cNvSpPr/>
          <p:nvPr/>
        </p:nvSpPr>
        <p:spPr>
          <a:xfrm>
            <a:off x="548640" y="3831480"/>
            <a:ext cx="3747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Alto engagement · nombres repetidos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2"/>
          <p:cNvSpPr/>
          <p:nvPr/>
        </p:nvSpPr>
        <p:spPr>
          <a:xfrm>
            <a:off x="365760" y="4270320"/>
            <a:ext cx="2873520" cy="712080"/>
          </a:xfrm>
          <a:prstGeom prst="rect">
            <a:avLst/>
          </a:prstGeom>
          <a:solidFill>
            <a:srgbClr val="f9eef2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33"/>
          <p:cNvSpPr/>
          <p:nvPr/>
        </p:nvSpPr>
        <p:spPr>
          <a:xfrm>
            <a:off x="365760" y="4270320"/>
            <a:ext cx="63000" cy="71208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37"/>
          <p:cNvSpPr/>
          <p:nvPr/>
        </p:nvSpPr>
        <p:spPr>
          <a:xfrm>
            <a:off x="548640" y="4316040"/>
            <a:ext cx="374796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6d2e46"/>
                </a:solidFill>
                <a:effectLst/>
                <a:uFillTx/>
                <a:latin typeface="Calibri"/>
                <a:ea typeface="Calibri"/>
              </a:rPr>
              <a:t>🟣  Sin categorizar</a:t>
            </a:r>
            <a:endParaRPr lang="es-CO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38"/>
          <p:cNvSpPr/>
          <p:nvPr/>
        </p:nvSpPr>
        <p:spPr>
          <a:xfrm>
            <a:off x="548640" y="4636080"/>
            <a:ext cx="37479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Sin taxonomía · datos mínimos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2" descr="/home/claude/cluster_resultante.jpg"/>
          <p:cNvPicPr/>
          <p:nvPr/>
        </p:nvPicPr>
        <p:blipFill>
          <a:blip r:embed="rId1"/>
          <a:stretch/>
        </p:blipFill>
        <p:spPr>
          <a:xfrm>
            <a:off x="3600000" y="865440"/>
            <a:ext cx="4571280" cy="4173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0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365760" y="255960"/>
            <a:ext cx="8502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Conclusiones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365760" y="1710000"/>
            <a:ext cx="1370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6"/>
          <p:cNvSpPr/>
          <p:nvPr/>
        </p:nvSpPr>
        <p:spPr>
          <a:xfrm>
            <a:off x="365760" y="1836720"/>
            <a:ext cx="894240" cy="760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365760" y="1836720"/>
            <a:ext cx="8942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8"/>
          <p:cNvSpPr/>
          <p:nvPr/>
        </p:nvSpPr>
        <p:spPr>
          <a:xfrm>
            <a:off x="365760" y="2944440"/>
            <a:ext cx="1370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9"/>
          <p:cNvSpPr/>
          <p:nvPr/>
        </p:nvSpPr>
        <p:spPr>
          <a:xfrm>
            <a:off x="1440000" y="1876320"/>
            <a:ext cx="7380000" cy="1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clustering confirmó que el catálogo no es homogéneo — hay perfiles muy distintos sin distinción visible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1"/>
          <p:cNvSpPr/>
          <p:nvPr/>
        </p:nvSpPr>
        <p:spPr>
          <a:xfrm>
            <a:off x="365760" y="3520440"/>
            <a:ext cx="137052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♻️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5"/>
          <p:cNvSpPr/>
          <p:nvPr/>
        </p:nvSpPr>
        <p:spPr>
          <a:xfrm>
            <a:off x="365400" y="905040"/>
            <a:ext cx="1554120" cy="68544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46"/>
          <p:cNvSpPr/>
          <p:nvPr/>
        </p:nvSpPr>
        <p:spPr>
          <a:xfrm>
            <a:off x="365400" y="905040"/>
            <a:ext cx="1554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70.9%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7"/>
          <p:cNvSpPr/>
          <p:nvPr/>
        </p:nvSpPr>
        <p:spPr>
          <a:xfrm>
            <a:off x="365400" y="1343880"/>
            <a:ext cx="15541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 evaluable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9"/>
          <p:cNvSpPr/>
          <p:nvPr/>
        </p:nvSpPr>
        <p:spPr>
          <a:xfrm>
            <a:off x="2194200" y="905040"/>
            <a:ext cx="1554120" cy="685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8"/>
          <p:cNvSpPr/>
          <p:nvPr/>
        </p:nvSpPr>
        <p:spPr>
          <a:xfrm>
            <a:off x="2194200" y="905040"/>
            <a:ext cx="15541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29.1%</a:t>
            </a:r>
            <a:endParaRPr lang="es-CO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49"/>
          <p:cNvSpPr/>
          <p:nvPr/>
        </p:nvSpPr>
        <p:spPr>
          <a:xfrm>
            <a:off x="2194200" y="1343880"/>
            <a:ext cx="155412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score válido</a:t>
            </a:r>
            <a:endParaRPr lang="es-CO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50"/>
          <p:cNvSpPr/>
          <p:nvPr/>
        </p:nvSpPr>
        <p:spPr>
          <a:xfrm>
            <a:off x="4114440" y="905040"/>
            <a:ext cx="46630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35.474 productos recibieron score -1 por ausencia total de ingredientes.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Del 29.1% válido, la calidad no es uniforme —</a:t>
            </a:r>
            <a:r>
              <a:rPr lang="en-US" sz="1050" b="1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 el catálogo no puede tratarse como dataset homogéneo.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40"/>
          <p:cNvSpPr/>
          <p:nvPr/>
        </p:nvSpPr>
        <p:spPr>
          <a:xfrm>
            <a:off x="365400" y="1709640"/>
            <a:ext cx="8412480" cy="360"/>
          </a:xfrm>
          <a:prstGeom prst="line">
            <a:avLst/>
          </a:prstGeom>
          <a:ln w="10160">
            <a:solidFill>
              <a:srgbClr val="e0d8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"/>
          <p:cNvPicPr/>
          <p:nvPr/>
        </p:nvPicPr>
        <p:blipFill>
          <a:blip r:embed="rId1"/>
          <a:stretch/>
        </p:blipFill>
        <p:spPr>
          <a:xfrm>
            <a:off x="1736280" y="2160000"/>
            <a:ext cx="6363720" cy="165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64"/>
          <p:cNvSpPr/>
          <p:nvPr/>
        </p:nvSpPr>
        <p:spPr>
          <a:xfrm>
            <a:off x="360000" y="3780000"/>
            <a:ext cx="8412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100" b="1" u="none" strike="noStrike">
                <a:solidFill>
                  <a:srgbClr val="2d1b36"/>
                </a:solidFill>
                <a:effectLst/>
                <a:uFillTx/>
                <a:latin typeface="Calibri"/>
                <a:ea typeface="Calibri"/>
              </a:rPr>
              <a:t>Problemas más frecuentes </a:t>
            </a:r>
            <a:endParaRPr lang="es-CO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47"/>
          <p:cNvSpPr/>
          <p:nvPr/>
        </p:nvSpPr>
        <p:spPr>
          <a:xfrm>
            <a:off x="360000" y="4118400"/>
            <a:ext cx="2605680" cy="363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65"/>
          <p:cNvSpPr/>
          <p:nvPr/>
        </p:nvSpPr>
        <p:spPr>
          <a:xfrm>
            <a:off x="360000" y="41641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6d2e46"/>
                </a:solidFill>
                <a:effectLst/>
                <a:uFillTx/>
                <a:latin typeface="Georgia"/>
                <a:ea typeface="Georgia"/>
              </a:rPr>
              <a:t>~2.800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66"/>
          <p:cNvSpPr/>
          <p:nvPr/>
        </p:nvSpPr>
        <p:spPr>
          <a:xfrm>
            <a:off x="360000" y="45115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nombres duplicados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8"/>
          <p:cNvSpPr/>
          <p:nvPr/>
        </p:nvSpPr>
        <p:spPr>
          <a:xfrm>
            <a:off x="3194640" y="4118400"/>
            <a:ext cx="260568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49"/>
          <p:cNvSpPr/>
          <p:nvPr/>
        </p:nvSpPr>
        <p:spPr>
          <a:xfrm>
            <a:off x="3194640" y="4118400"/>
            <a:ext cx="2605680" cy="3636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67"/>
          <p:cNvSpPr/>
          <p:nvPr/>
        </p:nvSpPr>
        <p:spPr>
          <a:xfrm>
            <a:off x="3194640" y="41641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a26769"/>
                </a:solidFill>
                <a:effectLst/>
                <a:uFillTx/>
                <a:latin typeface="Georgia"/>
                <a:ea typeface="Georgia"/>
              </a:rPr>
              <a:t>~1.600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68"/>
          <p:cNvSpPr/>
          <p:nvPr/>
        </p:nvSpPr>
        <p:spPr>
          <a:xfrm>
            <a:off x="3194640" y="45115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conflicto de idioma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países vs categorías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50"/>
          <p:cNvSpPr/>
          <p:nvPr/>
        </p:nvSpPr>
        <p:spPr>
          <a:xfrm>
            <a:off x="6029280" y="4118400"/>
            <a:ext cx="2605680" cy="868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df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51"/>
          <p:cNvSpPr/>
          <p:nvPr/>
        </p:nvSpPr>
        <p:spPr>
          <a:xfrm>
            <a:off x="6029280" y="4118400"/>
            <a:ext cx="2605680" cy="36360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9"/>
          <p:cNvSpPr/>
          <p:nvPr/>
        </p:nvSpPr>
        <p:spPr>
          <a:xfrm>
            <a:off x="6029280" y="4164120"/>
            <a:ext cx="26056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b8860b"/>
                </a:solidFill>
                <a:effectLst/>
                <a:uFillTx/>
                <a:latin typeface="Georgia"/>
                <a:ea typeface="Georgia"/>
              </a:rPr>
              <a:t>~4.000</a:t>
            </a:r>
            <a:endParaRPr lang="es-CO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70"/>
          <p:cNvSpPr/>
          <p:nvPr/>
        </p:nvSpPr>
        <p:spPr>
          <a:xfrm>
            <a:off x="6029280" y="451152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discrepancia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6b6b6b"/>
                </a:solidFill>
                <a:effectLst/>
                <a:uFillTx/>
                <a:latin typeface="Calibri"/>
                <a:ea typeface="Calibri"/>
              </a:rPr>
              <a:t>Sum &gt; total ingredientes</a:t>
            </a:r>
            <a:endParaRPr lang="es-CO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2"/>
          <p:cNvSpPr/>
          <p:nvPr/>
        </p:nvSpPr>
        <p:spPr>
          <a:xfrm>
            <a:off x="360000" y="5078520"/>
            <a:ext cx="8412480" cy="360"/>
          </a:xfrm>
          <a:prstGeom prst="line">
            <a:avLst/>
          </a:prstGeom>
          <a:ln w="10160">
            <a:solidFill>
              <a:srgbClr val="e0d8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41"/>
          <p:cNvSpPr/>
          <p:nvPr/>
        </p:nvSpPr>
        <p:spPr>
          <a:xfrm>
            <a:off x="0" y="0"/>
            <a:ext cx="108720" cy="5142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1"/>
          <p:cNvSpPr/>
          <p:nvPr/>
        </p:nvSpPr>
        <p:spPr>
          <a:xfrm>
            <a:off x="365760" y="255960"/>
            <a:ext cx="850284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400" b="1" u="none" strike="noStrike">
                <a:solidFill>
                  <a:srgbClr val="2d1b36"/>
                </a:solidFill>
                <a:effectLst/>
                <a:uFillTx/>
                <a:latin typeface="Georgia"/>
                <a:ea typeface="Georgia"/>
              </a:rPr>
              <a:t>Conclusiones</a:t>
            </a:r>
            <a:endParaRPr lang="es-CO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54"/>
          <p:cNvSpPr/>
          <p:nvPr/>
        </p:nvSpPr>
        <p:spPr>
          <a:xfrm>
            <a:off x="249480" y="1800000"/>
            <a:ext cx="13705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segmentos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43"/>
          <p:cNvSpPr/>
          <p:nvPr/>
        </p:nvSpPr>
        <p:spPr>
          <a:xfrm>
            <a:off x="435240" y="1399680"/>
            <a:ext cx="1004760" cy="9403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56"/>
          <p:cNvSpPr/>
          <p:nvPr/>
        </p:nvSpPr>
        <p:spPr>
          <a:xfrm>
            <a:off x="365760" y="3520440"/>
            <a:ext cx="137052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♻️</a:t>
            </a:r>
            <a:endParaRPr lang="es-CO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57"/>
          <p:cNvSpPr/>
          <p:nvPr/>
        </p:nvSpPr>
        <p:spPr>
          <a:xfrm>
            <a:off x="435240" y="1759680"/>
            <a:ext cx="100476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reutilizable</a:t>
            </a:r>
            <a:endParaRPr lang="es-CO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58"/>
          <p:cNvSpPr/>
          <p:nvPr/>
        </p:nvSpPr>
        <p:spPr>
          <a:xfrm>
            <a:off x="1603080" y="1440000"/>
            <a:ext cx="181692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El Random Forest clasifica nuevos productos automáticamente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1e1e1e"/>
                </a:solidFill>
                <a:effectLst/>
                <a:uFillTx/>
                <a:latin typeface="Calibri"/>
                <a:ea typeface="Calibri"/>
              </a:rPr>
              <a:t>nueva descarga → mismo análisis reproducible</a:t>
            </a:r>
            <a:endParaRPr lang="es-CO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46"/>
          <p:cNvSpPr/>
          <p:nvPr/>
        </p:nvSpPr>
        <p:spPr>
          <a:xfrm>
            <a:off x="360000" y="899640"/>
            <a:ext cx="8412480" cy="360"/>
          </a:xfrm>
          <a:prstGeom prst="line">
            <a:avLst/>
          </a:prstGeom>
          <a:ln w="10160">
            <a:solidFill>
              <a:srgbClr val="e0d8d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"/>
          <p:cNvPicPr/>
          <p:nvPr/>
        </p:nvPicPr>
        <p:blipFill>
          <a:blip r:embed="rId1"/>
          <a:stretch/>
        </p:blipFill>
        <p:spPr>
          <a:xfrm>
            <a:off x="3600000" y="1080000"/>
            <a:ext cx="4680000" cy="390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d1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0"/>
          <p:cNvSpPr/>
          <p:nvPr/>
        </p:nvSpPr>
        <p:spPr>
          <a:xfrm>
            <a:off x="0" y="0"/>
            <a:ext cx="163440" cy="51426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"/>
          <p:cNvSpPr/>
          <p:nvPr/>
        </p:nvSpPr>
        <p:spPr>
          <a:xfrm>
            <a:off x="164520" y="0"/>
            <a:ext cx="53640" cy="5142600"/>
          </a:xfrm>
          <a:prstGeom prst="rect">
            <a:avLst/>
          </a:prstGeom>
          <a:solidFill>
            <a:srgbClr val="a26769"/>
          </a:solidFill>
          <a:ln w="1270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548640" y="100584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Sí es posible saber qué productos son fiables.</a:t>
            </a:r>
            <a:endParaRPr lang="es-CO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548640" y="2057400"/>
            <a:ext cx="8228520" cy="12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Asignando un product_quality_score a cada registro y segmentando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el catálogo en 5 grupos diferenciados, se puede filtrar y decidir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c9b8c4"/>
                </a:solidFill>
                <a:effectLst/>
                <a:uFillTx/>
                <a:latin typeface="Calibri"/>
                <a:ea typeface="Calibri"/>
              </a:rPr>
              <a:t>qué datos son usables — antes de que contaminen cualquier análisis.</a:t>
            </a:r>
            <a:endParaRPr lang="es-CO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4"/>
          <p:cNvSpPr/>
          <p:nvPr/>
        </p:nvSpPr>
        <p:spPr>
          <a:xfrm>
            <a:off x="548640" y="3401280"/>
            <a:ext cx="4114800" cy="360"/>
          </a:xfrm>
          <a:prstGeom prst="line">
            <a:avLst/>
          </a:prstGeom>
          <a:ln w="19050">
            <a:solidFill>
              <a:srgbClr val="a267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CO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548640" y="3566160"/>
            <a:ext cx="8228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u="none" strike="noStrike">
                <a:solidFill>
                  <a:srgbClr val="a26769"/>
                </a:solidFill>
                <a:effectLst/>
                <a:uFillTx/>
                <a:latin typeface="Calibri"/>
                <a:ea typeface="Calibri"/>
              </a:rPr>
              <a:t>github.com/MayeLabs/anban_explorador_data</a:t>
            </a:r>
            <a:endParaRPr lang="es-CO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548640" y="3977640"/>
            <a:ext cx="8228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7a6070"/>
                </a:solidFill>
                <a:effectLst/>
                <a:uFillTx/>
                <a:latin typeface="Calibri"/>
                <a:ea typeface="Calibri"/>
              </a:rPr>
              <a:t>MayeLabs  ·  Bootcamp IA &amp; Data Science ANBAN 2026</a:t>
            </a:r>
            <a:endParaRPr lang="es-CO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LibreOffice/25.8.5.2$Linux_X86_64 LibreOffice_project/580$Build-2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2026-06-07T18:42:07Z</dcterms:created>
  <dc:creator>MayeLabs</dc:creator>
  <dc:description/>
  <dc:language>es-CO</dc:language>
  <cp:lastModifiedBy/>
  <dcterms:modified xsi:type="dcterms:W3CDTF">2026-06-08T12:40:06Z</dcterms:modified>
  <cp:revision>6</cp:revision>
  <dc:subject>PptxGenJS Presentation</dc:subject>
  <dc:title>Data Quality a Open Beauty Facts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